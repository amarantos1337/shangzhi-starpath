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5cfe676e9484c" /><Relationship Type="http://schemas.openxmlformats.org/officeDocument/2006/relationships/extended-properties" Target="/docProps/app.xml" Id="Re79319ad885a4f60" /><Relationship Type="http://schemas.openxmlformats.org/officeDocument/2006/relationships/officeDocument" Target="/ppt/presentation.xml" Id="R9485544254f7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e761d5660495b"/>
  </p:sldMasterIdLst>
  <p:notesMasterIdLst>
    <p:notesMasterId xmlns:r="http://schemas.openxmlformats.org/officeDocument/2006/relationships" r:id="Ra3a9f002d9b54581"/>
  </p:notesMasterIdLst>
  <p:sldIdLst>
    <p:sldId xmlns:r="http://schemas.openxmlformats.org/officeDocument/2006/relationships" id="256" r:id="Rdbfdd3ca77ab4fa2"/>
    <p:sldId xmlns:r="http://schemas.openxmlformats.org/officeDocument/2006/relationships" id="257" r:id="R1b64068e5b084b21"/>
    <p:sldId xmlns:r="http://schemas.openxmlformats.org/officeDocument/2006/relationships" id="258" r:id="Rf33f799cd5a34df3"/>
    <p:sldId xmlns:r="http://schemas.openxmlformats.org/officeDocument/2006/relationships" id="259" r:id="R63f3a972626743ce"/>
    <p:sldId xmlns:r="http://schemas.openxmlformats.org/officeDocument/2006/relationships" id="260" r:id="Reb149523732f4613"/>
    <p:sldId xmlns:r="http://schemas.openxmlformats.org/officeDocument/2006/relationships" id="261" r:id="R613ab846211f4b1e"/>
    <p:sldId xmlns:r="http://schemas.openxmlformats.org/officeDocument/2006/relationships" id="262" r:id="Re00c7e8d228d49d3"/>
    <p:sldId xmlns:r="http://schemas.openxmlformats.org/officeDocument/2006/relationships" id="263" r:id="Rc82b358b5c3343c2"/>
    <p:sldId xmlns:r="http://schemas.openxmlformats.org/officeDocument/2006/relationships" id="264" r:id="R3720c5ec8cb94677"/>
    <p:sldId xmlns:r="http://schemas.openxmlformats.org/officeDocument/2006/relationships" id="265" r:id="R511a82468ec44ead"/>
    <p:sldId xmlns:r="http://schemas.openxmlformats.org/officeDocument/2006/relationships" id="266" r:id="Rdbb5b0bd91fe4c5d"/>
    <p:sldId xmlns:r="http://schemas.openxmlformats.org/officeDocument/2006/relationships" id="267" r:id="Re187d15463394c97"/>
    <p:sldId xmlns:r="http://schemas.openxmlformats.org/officeDocument/2006/relationships" id="268" r:id="Rc1279473c0c549e5"/>
    <p:sldId xmlns:r="http://schemas.openxmlformats.org/officeDocument/2006/relationships" id="269" r:id="R26b3a2c1cc234f7a"/>
    <p:sldId xmlns:r="http://schemas.openxmlformats.org/officeDocument/2006/relationships" id="270" r:id="R3acbdb538b0840aa"/>
    <p:sldId xmlns:r="http://schemas.openxmlformats.org/officeDocument/2006/relationships" id="271" r:id="Ra7ab9defa3634bca"/>
    <p:sldId xmlns:r="http://schemas.openxmlformats.org/officeDocument/2006/relationships" id="272" r:id="R0f2d1c79e18f491b"/>
    <p:sldId xmlns:r="http://schemas.openxmlformats.org/officeDocument/2006/relationships" id="273" r:id="R2473c1d4440e4ee3"/>
    <p:sldId xmlns:r="http://schemas.openxmlformats.org/officeDocument/2006/relationships" id="274" r:id="Rd949e03465d4431e"/>
    <p:sldId xmlns:r="http://schemas.openxmlformats.org/officeDocument/2006/relationships" id="275" r:id="R5e4cc663371240ae"/>
    <p:sldId xmlns:r="http://schemas.openxmlformats.org/officeDocument/2006/relationships" id="276" r:id="R3fdc470a2572443a"/>
    <p:sldId xmlns:r="http://schemas.openxmlformats.org/officeDocument/2006/relationships" id="277" r:id="R5fb3537692304f61"/>
    <p:sldId xmlns:r="http://schemas.openxmlformats.org/officeDocument/2006/relationships" id="278" r:id="R0ab4f678ad21493d"/>
    <p:sldId xmlns:r="http://schemas.openxmlformats.org/officeDocument/2006/relationships" id="279" r:id="R6db8b713b2494b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3c1833ba7438e" /><Relationship Type="http://schemas.openxmlformats.org/officeDocument/2006/relationships/slideMaster" Target="/ppt/slideMasters/slideMaster1.xml" Id="R6fce761d5660495b" /><Relationship Type="http://schemas.openxmlformats.org/officeDocument/2006/relationships/notesMaster" Target="/ppt/notesMasters/notesMaster1.xml" Id="Ra3a9f002d9b54581" /><Relationship Type="http://schemas.openxmlformats.org/officeDocument/2006/relationships/presProps" Target="/ppt/presProps.xml" Id="R22e971bb54b54b3b" /><Relationship Type="http://schemas.openxmlformats.org/officeDocument/2006/relationships/tableStyles" Target="/ppt/tableStyles.xml" Id="R84d0c5950377454f" /><Relationship Type="http://schemas.openxmlformats.org/officeDocument/2006/relationships/slide" Target="/ppt/slides/slide1.xml" Id="Rdbfdd3ca77ab4fa2" /><Relationship Type="http://schemas.openxmlformats.org/officeDocument/2006/relationships/slide" Target="/ppt/slides/slide2.xml" Id="R1b64068e5b084b21" /><Relationship Type="http://schemas.openxmlformats.org/officeDocument/2006/relationships/slide" Target="/ppt/slides/slide3.xml" Id="Rf33f799cd5a34df3" /><Relationship Type="http://schemas.openxmlformats.org/officeDocument/2006/relationships/slide" Target="/ppt/slides/slide4.xml" Id="R63f3a972626743ce" /><Relationship Type="http://schemas.openxmlformats.org/officeDocument/2006/relationships/slide" Target="/ppt/slides/slide5.xml" Id="Reb149523732f4613" /><Relationship Type="http://schemas.openxmlformats.org/officeDocument/2006/relationships/slide" Target="/ppt/slides/slide6.xml" Id="R613ab846211f4b1e" /><Relationship Type="http://schemas.openxmlformats.org/officeDocument/2006/relationships/slide" Target="/ppt/slides/slide7.xml" Id="Re00c7e8d228d49d3" /><Relationship Type="http://schemas.openxmlformats.org/officeDocument/2006/relationships/slide" Target="/ppt/slides/slide8.xml" Id="Rc82b358b5c3343c2" /><Relationship Type="http://schemas.openxmlformats.org/officeDocument/2006/relationships/slide" Target="/ppt/slides/slide9.xml" Id="R3720c5ec8cb94677" /><Relationship Type="http://schemas.openxmlformats.org/officeDocument/2006/relationships/slide" Target="/ppt/slides/slide10.xml" Id="R511a82468ec44ead" /><Relationship Type="http://schemas.openxmlformats.org/officeDocument/2006/relationships/slide" Target="/ppt/slides/slide11.xml" Id="Rdbb5b0bd91fe4c5d" /><Relationship Type="http://schemas.openxmlformats.org/officeDocument/2006/relationships/slide" Target="/ppt/slides/slide12.xml" Id="Re187d15463394c97" /><Relationship Type="http://schemas.openxmlformats.org/officeDocument/2006/relationships/slide" Target="/ppt/slides/slide13.xml" Id="Rc1279473c0c549e5" /><Relationship Type="http://schemas.openxmlformats.org/officeDocument/2006/relationships/slide" Target="/ppt/slides/slide14.xml" Id="R26b3a2c1cc234f7a" /><Relationship Type="http://schemas.openxmlformats.org/officeDocument/2006/relationships/slide" Target="/ppt/slides/slide15.xml" Id="R3acbdb538b0840aa" /><Relationship Type="http://schemas.openxmlformats.org/officeDocument/2006/relationships/slide" Target="/ppt/slides/slide16.xml" Id="Ra7ab9defa3634bca" /><Relationship Type="http://schemas.openxmlformats.org/officeDocument/2006/relationships/slide" Target="/ppt/slides/slide17.xml" Id="R0f2d1c79e18f491b" /><Relationship Type="http://schemas.openxmlformats.org/officeDocument/2006/relationships/slide" Target="/ppt/slides/slide18.xml" Id="R2473c1d4440e4ee3" /><Relationship Type="http://schemas.openxmlformats.org/officeDocument/2006/relationships/slide" Target="/ppt/slides/slide19.xml" Id="Rd949e03465d4431e" /><Relationship Type="http://schemas.openxmlformats.org/officeDocument/2006/relationships/slide" Target="/ppt/slides/slide20.xml" Id="R5e4cc663371240ae" /><Relationship Type="http://schemas.openxmlformats.org/officeDocument/2006/relationships/slide" Target="/ppt/slides/slide21.xml" Id="R3fdc470a2572443a" /><Relationship Type="http://schemas.openxmlformats.org/officeDocument/2006/relationships/slide" Target="/ppt/slides/slide22.xml" Id="R5fb3537692304f61" /><Relationship Type="http://schemas.openxmlformats.org/officeDocument/2006/relationships/slide" Target="/ppt/slides/slide23.xml" Id="R0ab4f678ad21493d" /><Relationship Type="http://schemas.openxmlformats.org/officeDocument/2006/relationships/slide" Target="/ppt/slides/slide24.xml" Id="R6db8b713b249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a0bf74e1640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118ce76644b71" /><Relationship Type="http://schemas.openxmlformats.org/officeDocument/2006/relationships/notesMaster" Target="/ppt/notesMasters/notesMaster1.xml" Id="R2622ea3c478845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8ea0c6502c4634" /><Relationship Type="http://schemas.openxmlformats.org/officeDocument/2006/relationships/notesMaster" Target="/ppt/notesMasters/notesMaster1.xml" Id="Ra04918f1a5b44b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fc59faf1d427e" /><Relationship Type="http://schemas.openxmlformats.org/officeDocument/2006/relationships/notesMaster" Target="/ppt/notesMasters/notesMaster1.xml" Id="Rb5bc6d7dd3a544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cadcdaa6c948b9" /><Relationship Type="http://schemas.openxmlformats.org/officeDocument/2006/relationships/notesMaster" Target="/ppt/notesMasters/notesMaster1.xml" Id="R980d9e8228be43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2e307f2414068" /><Relationship Type="http://schemas.openxmlformats.org/officeDocument/2006/relationships/notesMaster" Target="/ppt/notesMasters/notesMaster1.xml" Id="R590633c805fd40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d78e401f54647" /><Relationship Type="http://schemas.openxmlformats.org/officeDocument/2006/relationships/notesMaster" Target="/ppt/notesMasters/notesMaster1.xml" Id="Rffc27a85459f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6cb1260b5466a" /><Relationship Type="http://schemas.openxmlformats.org/officeDocument/2006/relationships/notesMaster" Target="/ppt/notesMasters/notesMaster1.xml" Id="R23b075c94c98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ced7f65024d9b" /><Relationship Type="http://schemas.openxmlformats.org/officeDocument/2006/relationships/notesMaster" Target="/ppt/notesMasters/notesMaster1.xml" Id="R97df1b0006f044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b9cd99b9f4eaf" /><Relationship Type="http://schemas.openxmlformats.org/officeDocument/2006/relationships/notesMaster" Target="/ppt/notesMasters/notesMaster1.xml" Id="Rc459f890b0ad48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5a10fa9f2941ce" /><Relationship Type="http://schemas.openxmlformats.org/officeDocument/2006/relationships/notesMaster" Target="/ppt/notesMasters/notesMaster1.xml" Id="R20949621498b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94833f274948c3" /><Relationship Type="http://schemas.openxmlformats.org/officeDocument/2006/relationships/notesMaster" Target="/ppt/notesMasters/notesMaster1.xml" Id="R7a5edff16dd541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7358a146a4f39" /><Relationship Type="http://schemas.openxmlformats.org/officeDocument/2006/relationships/notesMaster" Target="/ppt/notesMasters/notesMaster1.xml" Id="Re8bcc0811f744d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1048dc3f8477a" /><Relationship Type="http://schemas.openxmlformats.org/officeDocument/2006/relationships/notesMaster" Target="/ppt/notesMasters/notesMaster1.xml" Id="Rdb7cd3d4a53f4e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f4558aec4f42c2" /><Relationship Type="http://schemas.openxmlformats.org/officeDocument/2006/relationships/notesMaster" Target="/ppt/notesMasters/notesMaster1.xml" Id="Rde35cfcc2cad4d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6352e236424aa0" /><Relationship Type="http://schemas.openxmlformats.org/officeDocument/2006/relationships/notesMaster" Target="/ppt/notesMasters/notesMaster1.xml" Id="R783a2d85c89f40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34bd5069604dc4" /><Relationship Type="http://schemas.openxmlformats.org/officeDocument/2006/relationships/notesMaster" Target="/ppt/notesMasters/notesMaster1.xml" Id="R0deb3bb5cdf04b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17eff1a1cf435b" /><Relationship Type="http://schemas.openxmlformats.org/officeDocument/2006/relationships/notesMaster" Target="/ppt/notesMasters/notesMaster1.xml" Id="R8727a54376104a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7b2d1d82ce4f9f" /><Relationship Type="http://schemas.openxmlformats.org/officeDocument/2006/relationships/notesMaster" Target="/ppt/notesMasters/notesMaster1.xml" Id="Rd03f9abd0e8c48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2dd8b4fdde4d1f" /><Relationship Type="http://schemas.openxmlformats.org/officeDocument/2006/relationships/notesMaster" Target="/ppt/notesMasters/notesMaster1.xml" Id="R16738d024e224d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82572c762147c2" /><Relationship Type="http://schemas.openxmlformats.org/officeDocument/2006/relationships/notesMaster" Target="/ppt/notesMasters/notesMaster1.xml" Id="Rcf9b1fb141f84b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39f8f43a4f44bd" /><Relationship Type="http://schemas.openxmlformats.org/officeDocument/2006/relationships/notesMaster" Target="/ppt/notesMasters/notesMaster1.xml" Id="Rd9c9a2f8a52140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2e079b72844398" /><Relationship Type="http://schemas.openxmlformats.org/officeDocument/2006/relationships/notesMaster" Target="/ppt/notesMasters/notesMaster1.xml" Id="R7ff252c3a71c47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1a0061b9d34b20" /><Relationship Type="http://schemas.openxmlformats.org/officeDocument/2006/relationships/notesMaster" Target="/ppt/notesMasters/notesMaster1.xml" Id="Rece0adfe71454e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da8fbb329f4ed2" /><Relationship Type="http://schemas.openxmlformats.org/officeDocument/2006/relationships/notesMaster" Target="/ppt/notesMasters/notesMaster1.xml" Id="Rd35399ffb9e8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截图来自本次提交版实际运行：history-sources.png，保留原始画面。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截图来自本次提交版实际运行：alumni-search.png，保留原始画面。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截图来自本次提交版实际运行：route.png，保留原始画面。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  <a:p xmlns:a="http://schemas.openxmlformats.org/drawingml/2006/main">
            <a:r>
              <a:t>一次真实DeepSeek生成，虚构学习情况。原始起止记录见readme/视频制作资料/录制说明.md，AI摘要需核实。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截图来自本次提交版实际运行：ai-sources.png，保留原始画面。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截图来自本次提交版实际运行：growth-refresh.png，保留原始画面。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>截图来自本次提交版实际运行：import-confirm.png，保留原始画面。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project/js/data.js、learning.js及readme/来源索引.md。</a:t>
            </a:r>
          </a:p>
          <a:p xmlns:a="http://schemas.openxmlformats.org/drawingml/2006/main">
            <a:r>
              <a:t>截图：本次提交版真实网站页面；人物资料和照片沿用网站原有来源。</a:t>
            </a:r>
          </a:p>
          <a:p xmlns:a="http://schemas.openxmlformats.org/drawingml/2006/main">
            <a:r>
              <a:t>真实CodeArts代码生成证据：codearts_proof/03-code-generation.png；完整对话、用量和补截边界见证据索引。</a:t>
            </a:r>
          </a:p>
          <a:p xmlns:a="http://schemas.openxmlformats.org/drawingml/2006/main">
            <a:r>
              <a:t>开发归属：参赛者本人亲手使用华为云码道完成商职星途网站核心功能开发。现有03-code-generation.png截图记录交付检查工具生成阶段，其具体覆盖范围保留在证据索引中。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来源：提交版V3 project/js/data.js、learning.js、app.js、storage.js、ai.js及readme/来源索引.md、运行与部署说明.md、验收记录.md。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05c4bbd9746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3160e8aa745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10918ca4547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9c583fd2744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d1e47f27b41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2b8a6abf84f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CAACA-DDE4-4653-B65D-21DA7BEF9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B42529-0100-4CE1-B5D6-00C0D5B442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82A286-FA49-4137-BD3C-F1AD7CA90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CE145-D405-4C4E-8D71-B6B11252A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0E3D97-9E69-4A84-96FD-AA61150DA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B4AC3A-393E-46A3-84AA-AE7B8F63F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EC4336-BAD3-467C-ADD2-208ADD5734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9344AC-0DED-4E77-B95B-898C25B695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0E7FA5-7696-4733-BA32-7A8089089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146445-DC1C-4A6F-B4EF-91BC19E6C5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0b4be7c02407a" /><Relationship Type="http://schemas.openxmlformats.org/officeDocument/2006/relationships/slideLayout" Target="/ppt/slideLayouts/slideLayout1.xml" Id="R918028320fb8454e" /><Relationship Type="http://schemas.openxmlformats.org/officeDocument/2006/relationships/slideLayout" Target="/ppt/slideLayouts/slideLayout2.xml" Id="R4203c31dace74ea3" /><Relationship Type="http://schemas.openxmlformats.org/officeDocument/2006/relationships/slideLayout" Target="/ppt/slideLayouts/slideLayout3.xml" Id="R3023269f18cc4d1c" /><Relationship Type="http://schemas.openxmlformats.org/officeDocument/2006/relationships/slideLayout" Target="/ppt/slideLayouts/slideLayout4.xml" Id="R20d2a2fb81cc45e0" /><Relationship Type="http://schemas.openxmlformats.org/officeDocument/2006/relationships/slideLayout" Target="/ppt/slideLayouts/slideLayout5.xml" Id="Re2aecd2afdc64fd4" /><Relationship Type="http://schemas.openxmlformats.org/officeDocument/2006/relationships/slideLayout" Target="/ppt/slideLayouts/slideLayout6.xml" Id="R2ffc629e54c7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028320fb8454e"/>
    <p:sldLayoutId xmlns:r="http://schemas.openxmlformats.org/officeDocument/2006/relationships" id="2147483650" r:id="R4203c31dace74ea3"/>
    <p:sldLayoutId xmlns:r="http://schemas.openxmlformats.org/officeDocument/2006/relationships" id="2147483651" r:id="R3023269f18cc4d1c"/>
    <p:sldLayoutId xmlns:r="http://schemas.openxmlformats.org/officeDocument/2006/relationships" id="2147483652" r:id="R20d2a2fb81cc45e0"/>
    <p:sldLayoutId xmlns:r="http://schemas.openxmlformats.org/officeDocument/2006/relationships" id="2147483653" r:id="Re2aecd2afdc64fd4"/>
    <p:sldLayoutId xmlns:r="http://schemas.openxmlformats.org/officeDocument/2006/relationships" id="2147483654" r:id="R2ffc629e54c7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d1cf45c124d0b" /><Relationship Type="http://schemas.openxmlformats.org/officeDocument/2006/relationships/image" Target="/ppt/media/image.png" Id="R87899ec9ce994a3d" /><Relationship Type="http://schemas.openxmlformats.org/officeDocument/2006/relationships/notesSlide" Target="/ppt/notesSlides/notesSlide1.xml" Id="R8b2d2057c7404f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2f0cae5db4bd7" /><Relationship Type="http://schemas.openxmlformats.org/officeDocument/2006/relationships/notesSlide" Target="/ppt/notesSlides/notesSlide2.xml" Id="Rea9582b1daaa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aeda862f44d80" /><Relationship Type="http://schemas.openxmlformats.org/officeDocument/2006/relationships/notesSlide" Target="/ppt/notesSlides/notesSlide3.xml" Id="R0bef995a7a28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a909465ef4ab5" /><Relationship Type="http://schemas.openxmlformats.org/officeDocument/2006/relationships/notesSlide" Target="/ppt/notesSlides/notesSlide4.xml" Id="Ra42ea4ad7fb54e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18f94e55c4d7f" /><Relationship Type="http://schemas.openxmlformats.org/officeDocument/2006/relationships/notesSlide" Target="/ppt/notesSlides/notesSlide5.xml" Id="R94bae1610ba7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0e50040934b26" /><Relationship Type="http://schemas.openxmlformats.org/officeDocument/2006/relationships/image" Target="/ppt/media/image2.png" Id="Ra43348c5e6dd4f88" /><Relationship Type="http://schemas.openxmlformats.org/officeDocument/2006/relationships/image" Target="/ppt/media/image3.png" Id="R462d0729f65647c3" /><Relationship Type="http://schemas.openxmlformats.org/officeDocument/2006/relationships/notesSlide" Target="/ppt/notesSlides/notesSlide6.xml" Id="R64e0460959bc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b47b909f6438d" /><Relationship Type="http://schemas.openxmlformats.org/officeDocument/2006/relationships/image" Target="/ppt/media/image4.png" Id="Rc56f598ad0f143bb" /><Relationship Type="http://schemas.openxmlformats.org/officeDocument/2006/relationships/notesSlide" Target="/ppt/notesSlides/notesSlide7.xml" Id="R4cefc1c4de8747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ba743d0d24dab" /><Relationship Type="http://schemas.openxmlformats.org/officeDocument/2006/relationships/image" Target="/ppt/media/image5.png" Id="Rf9db7c576c424f8f" /><Relationship Type="http://schemas.openxmlformats.org/officeDocument/2006/relationships/notesSlide" Target="/ppt/notesSlides/notesSlide8.xml" Id="R1ae970df50aa45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c578f5aee4d3f" /><Relationship Type="http://schemas.openxmlformats.org/officeDocument/2006/relationships/notesSlide" Target="/ppt/notesSlides/notesSlide9.xml" Id="Rf0a71dc604c2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ba341081f4a02" /><Relationship Type="http://schemas.openxmlformats.org/officeDocument/2006/relationships/image" Target="/ppt/media/image6.png" Id="Rbaa86babf1c04688" /><Relationship Type="http://schemas.openxmlformats.org/officeDocument/2006/relationships/notesSlide" Target="/ppt/notesSlides/notesSlide10.xml" Id="R6930f39e9aff4a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51d91a27e4fb7" /><Relationship Type="http://schemas.openxmlformats.org/officeDocument/2006/relationships/image" Target="/ppt/media/image7.png" Id="Rdbe3e99727ff4b5e" /><Relationship Type="http://schemas.openxmlformats.org/officeDocument/2006/relationships/image" Target="/ppt/media/image8.png" Id="R82ad7a000e4f4671" /><Relationship Type="http://schemas.openxmlformats.org/officeDocument/2006/relationships/notesSlide" Target="/ppt/notesSlides/notesSlide11.xml" Id="Rfcbe73f0403240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3fb30f8594d08" /><Relationship Type="http://schemas.openxmlformats.org/officeDocument/2006/relationships/notesSlide" Target="/ppt/notesSlides/notesSlide12.xml" Id="R605ff76987f549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90c34c5d7405e" /><Relationship Type="http://schemas.openxmlformats.org/officeDocument/2006/relationships/notesSlide" Target="/ppt/notesSlides/notesSlide13.xml" Id="R23fcf756fb7343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2d6f8278f466c" /><Relationship Type="http://schemas.openxmlformats.org/officeDocument/2006/relationships/notesSlide" Target="/ppt/notesSlides/notesSlide14.xml" Id="Rf2dd8213b284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6fbc54b444d18" /><Relationship Type="http://schemas.openxmlformats.org/officeDocument/2006/relationships/image" Target="/ppt/media/image9.png" Id="Rcb370f31b0734cb9" /><Relationship Type="http://schemas.openxmlformats.org/officeDocument/2006/relationships/image" Target="/ppt/media/image10.png" Id="Re45c1ce629f548e5" /><Relationship Type="http://schemas.openxmlformats.org/officeDocument/2006/relationships/notesSlide" Target="/ppt/notesSlides/notesSlide15.xml" Id="R78b2e124b9a640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c55f3eeb04bf6" /><Relationship Type="http://schemas.openxmlformats.org/officeDocument/2006/relationships/image" Target="/ppt/media/image11.png" Id="R0cfc910611f846f8" /><Relationship Type="http://schemas.openxmlformats.org/officeDocument/2006/relationships/notesSlide" Target="/ppt/notesSlides/notesSlide16.xml" Id="Ra655b9cf7eac49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04d5bbef94479" /><Relationship Type="http://schemas.openxmlformats.org/officeDocument/2006/relationships/notesSlide" Target="/ppt/notesSlides/notesSlide17.xml" Id="R215bc321323d41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0e389b7864b83" /><Relationship Type="http://schemas.openxmlformats.org/officeDocument/2006/relationships/image" Target="/ppt/media/image12.png" Id="Ra92c98ac3e3542f6" /><Relationship Type="http://schemas.openxmlformats.org/officeDocument/2006/relationships/notesSlide" Target="/ppt/notesSlides/notesSlide18.xml" Id="R3d993ff3af1342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1ffa3b51d4ed3" /><Relationship Type="http://schemas.openxmlformats.org/officeDocument/2006/relationships/image" Target="/ppt/media/image13.png" Id="R264bb7ef23a846c5" /><Relationship Type="http://schemas.openxmlformats.org/officeDocument/2006/relationships/notesSlide" Target="/ppt/notesSlides/notesSlide19.xml" Id="R8611b5639a0a42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a251f62be4148" /><Relationship Type="http://schemas.openxmlformats.org/officeDocument/2006/relationships/image" Target="/ppt/media/image14.png" Id="R9d16c5fe7e8f43e9" /><Relationship Type="http://schemas.openxmlformats.org/officeDocument/2006/relationships/image" Target="/ppt/media/image15.png" Id="R3544490524304af8" /><Relationship Type="http://schemas.openxmlformats.org/officeDocument/2006/relationships/notesSlide" Target="/ppt/notesSlides/notesSlide20.xml" Id="R1476040e847e47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cb29feb344391" /><Relationship Type="http://schemas.openxmlformats.org/officeDocument/2006/relationships/notesSlide" Target="/ppt/notesSlides/notesSlide21.xml" Id="Raadfc59bf86e42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849b0451e4645" /><Relationship Type="http://schemas.openxmlformats.org/officeDocument/2006/relationships/image" Target="/ppt/media/image16.png" Id="R7585beefe5244d66" /><Relationship Type="http://schemas.openxmlformats.org/officeDocument/2006/relationships/notesSlide" Target="/ppt/notesSlides/notesSlide22.xml" Id="Rfe4688ac4b184b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4a201b8dd4318" /><Relationship Type="http://schemas.openxmlformats.org/officeDocument/2006/relationships/image" Target="/ppt/media/image.jpeg" Id="Rf0db475ef9554504" /><Relationship Type="http://schemas.openxmlformats.org/officeDocument/2006/relationships/notesSlide" Target="/ppt/notesSlides/notesSlide23.xml" Id="R923ecb2450f94f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dfb40fac94d54" /><Relationship Type="http://schemas.openxmlformats.org/officeDocument/2006/relationships/notesSlide" Target="/ppt/notesSlides/notesSlide24.xml" Id="Rbf4299568b6e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-rect-0">
            <a:extLst xmlns:a="http://schemas.openxmlformats.org/drawingml/2006/main">
              <a:ext uri="{FF2B5EF4-FFF2-40B4-BE49-F238E27FC236}">
                <a16:creationId xmlns:a16="http://schemas.microsoft.com/office/drawing/2014/main" id="{8325917A-91F1-4BD4-9707-E98824D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-rect-1">
            <a:extLst xmlns:a="http://schemas.openxmlformats.org/drawingml/2006/main">
              <a:ext uri="{FF2B5EF4-FFF2-40B4-BE49-F238E27FC236}">
                <a16:creationId xmlns:a16="http://schemas.microsoft.com/office/drawing/2014/main" id="{EDDC3253-E61C-4168-B48A-172D4DCA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1-text-2">
            <a:extLst xmlns:a="http://schemas.openxmlformats.org/drawingml/2006/main">
              <a:ext uri="{FF2B5EF4-FFF2-40B4-BE49-F238E27FC236}">
                <a16:creationId xmlns:a16="http://schemas.microsoft.com/office/drawing/2014/main" id="{5865CDF7-B2CD-4347-82BD-36BF001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2369939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1936 — 2026  /  回望 · 传承 · 成长</a:t>
            </a:r>
          </a:p>
        </p:txBody>
      </p:sp>
      <p:sp>
        <p:nvSpPr>
          <p:cNvPr id="4" name="slide-1-text-3">
            <a:extLst xmlns:a="http://schemas.openxmlformats.org/drawingml/2006/main">
              <a:ext uri="{FF2B5EF4-FFF2-40B4-BE49-F238E27FC236}">
                <a16:creationId xmlns:a16="http://schemas.microsoft.com/office/drawing/2014/main" id="{C2663891-4123-486F-8E22-8489D1A4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3460775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商职星途 · 九秩校庆</a:t>
            </a:r>
          </a:p>
        </p:txBody>
      </p:sp>
      <p:sp>
        <p:nvSpPr>
          <p:cNvPr id="5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40E089B7-8DA3-41C7-AB09-3ACD744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4306"/>
            <a:ext cx="46482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让真实故事启发行动，让每一步成长成为献礼母校的作品。</a:t>
            </a:r>
          </a:p>
        </p:txBody>
      </p:sp>
      <p:sp>
        <p:nvSpPr>
          <p:cNvPr id="6" name="slide-1-line-5">
            <a:extLst xmlns:a="http://schemas.openxmlformats.org/drawingml/2006/main">
              <a:ext uri="{FF2B5EF4-FFF2-40B4-BE49-F238E27FC236}">
                <a16:creationId xmlns:a16="http://schemas.microsoft.com/office/drawing/2014/main" id="{9B8A02FA-FC51-4F47-A7E6-BECA5E75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7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62C4307F-873B-49A9-BBD4-9B0CF5D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8" name="slide-1-text-7">
            <a:extLst xmlns:a="http://schemas.openxmlformats.org/drawingml/2006/main">
              <a:ext uri="{FF2B5EF4-FFF2-40B4-BE49-F238E27FC236}">
                <a16:creationId xmlns:a16="http://schemas.microsoft.com/office/drawing/2014/main" id="{F63D72A0-B04A-4C53-87EA-6EE3B60D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01 / 24</a:t>
            </a:r>
          </a:p>
        </p:txBody>
      </p:sp>
      <p:sp>
        <p:nvSpPr>
          <p:cNvPr id="9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0732A0E3-CFC6-4B41-9194-7FB727B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3980"/>
            <a:ext cx="3657600" cy="263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从校庆记忆，走向学生的下一步</a:t>
            </a:r>
          </a:p>
        </p:txBody>
      </p:sp>
      <p:sp>
        <p:nvSpPr>
          <p:cNvPr id="10" name="slide-1-text-9">
            <a:extLst xmlns:a="http://schemas.openxmlformats.org/drawingml/2006/main">
              <a:ext uri="{FF2B5EF4-FFF2-40B4-BE49-F238E27FC236}">
                <a16:creationId xmlns:a16="http://schemas.microsoft.com/office/drawing/2014/main" id="{368542CC-E0D9-419E-94D4-2F6B1C3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0218"/>
            <a:ext cx="4627271" cy="22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面向山东商业职业技术大学办学90周年的学生创</a:t>
            </a:r>
          </a:p>
        </p:txBody>
      </p:sp>
      <p:sp>
        <p:nvSpPr>
          <p:cNvPr id="11" name="slide-1-text-10">
            <a:extLst xmlns:a="http://schemas.openxmlformats.org/drawingml/2006/main">
              <a:ext uri="{FF2B5EF4-FFF2-40B4-BE49-F238E27FC236}">
                <a16:creationId xmlns:a16="http://schemas.microsoft.com/office/drawing/2014/main" id="{4288AE58-0F0F-421D-ACEF-5C44CDF4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5498"/>
            <a:ext cx="4591050" cy="22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作专题。把校史、校友故事、学习实践与个人成</a:t>
            </a:r>
          </a:p>
        </p:txBody>
      </p:sp>
      <p:sp>
        <p:nvSpPr>
          <p:cNvPr id="12" name="slide-1-text-11">
            <a:extLst xmlns:a="http://schemas.openxmlformats.org/drawingml/2006/main">
              <a:ext uri="{FF2B5EF4-FFF2-40B4-BE49-F238E27FC236}">
                <a16:creationId xmlns:a16="http://schemas.microsoft.com/office/drawing/2014/main" id="{A47551CC-CB7A-456F-AFA0-64AF845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0778"/>
            <a:ext cx="2076450" cy="22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长计划串联在一处。</a:t>
            </a:r>
          </a:p>
        </p:txBody>
      </p:sp>
      <p:sp>
        <p:nvSpPr>
          <p:cNvPr id="13" name="slide-1-text-12">
            <a:extLst xmlns:a="http://schemas.openxmlformats.org/drawingml/2006/main">
              <a:ext uri="{FF2B5EF4-FFF2-40B4-BE49-F238E27FC236}">
                <a16:creationId xmlns:a16="http://schemas.microsoft.com/office/drawing/2014/main" id="{8302DD74-F8E5-4EFC-ACE3-CBA83319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127"/>
            <a:ext cx="1390650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原生静态网站</a:t>
            </a:r>
          </a:p>
        </p:txBody>
      </p:sp>
      <p:sp>
        <p:nvSpPr>
          <p:cNvPr id="14" name="slide-1-text-13">
            <a:extLst xmlns:a="http://schemas.openxmlformats.org/drawingml/2006/main">
              <a:ext uri="{FF2B5EF4-FFF2-40B4-BE49-F238E27FC236}">
                <a16:creationId xmlns:a16="http://schemas.microsoft.com/office/drawing/2014/main" id="{03154B3D-3C3C-4640-92B1-219E2245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8167"/>
            <a:ext cx="1790700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基础功能无需安装</a:t>
            </a:r>
          </a:p>
        </p:txBody>
      </p:sp>
      <p:sp>
        <p:nvSpPr>
          <p:cNvPr id="15" name="slide-1-text-14">
            <a:extLst xmlns:a="http://schemas.openxmlformats.org/drawingml/2006/main">
              <a:ext uri="{FF2B5EF4-FFF2-40B4-BE49-F238E27FC236}">
                <a16:creationId xmlns:a16="http://schemas.microsoft.com/office/drawing/2014/main" id="{5515F8C5-E3CD-49E7-A226-FF96879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8207"/>
            <a:ext cx="199072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本地保存，备份迁移</a:t>
            </a:r>
          </a:p>
        </p:txBody>
      </p:sp>
      <p:sp>
        <p:nvSpPr>
          <p:cNvPr id="16" name="slide-1-roundRect-15">
            <a:extLst xmlns:a="http://schemas.openxmlformats.org/drawingml/2006/main">
              <a:ext uri="{FF2B5EF4-FFF2-40B4-BE49-F238E27FC236}">
                <a16:creationId xmlns:a16="http://schemas.microsoft.com/office/drawing/2014/main" id="{FFD15ECA-C898-46DB-8B01-1CF2ADB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14550"/>
            <a:ext cx="5934075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2FBF7-F7F5-40F1-BF9F-A510C19D4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99ec9ce994a3d"/>
          <a:stretch xmlns:a="http://schemas.openxmlformats.org/drawingml/2006/main"/>
        </p:blipFill>
        <p:spPr>
          <a:xfrm xmlns:a="http://schemas.openxmlformats.org/drawingml/2006/main">
            <a:off x="5724525" y="2152948"/>
            <a:ext cx="5857875" cy="3295055"/>
          </a:xfrm>
          <a:prstGeom xmlns:a="http://schemas.openxmlformats.org/drawingml/2006/main" prst="rect">
            <a:avLst/>
          </a:prstGeom>
        </p:spPr>
      </p:pic>
      <p:sp>
        <p:nvSpPr>
          <p:cNvPr id="18" name="slide-1-text-17">
            <a:extLst xmlns:a="http://schemas.openxmlformats.org/drawingml/2006/main">
              <a:ext uri="{FF2B5EF4-FFF2-40B4-BE49-F238E27FC236}">
                <a16:creationId xmlns:a16="http://schemas.microsoft.com/office/drawing/2014/main" id="{B2A72734-36CA-4350-8D74-31A9D4CF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616243"/>
            <a:ext cx="2275852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提交版 V3 实际页面  /  2026.10.10</a:t>
            </a:r>
          </a:p>
        </p:txBody>
      </p:sp>
    </p:spTree>
    <p:extLst>
      <p:ext uri="{BB962C8B-B14F-4D97-AF65-F5344CB8AC3E}">
        <p14:creationId xmlns:p14="http://schemas.microsoft.com/office/powerpoint/2010/main" val="404169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rect-0">
            <a:extLst xmlns:a="http://schemas.openxmlformats.org/drawingml/2006/main">
              <a:ext uri="{FF2B5EF4-FFF2-40B4-BE49-F238E27FC236}">
                <a16:creationId xmlns:a16="http://schemas.microsoft.com/office/drawing/2014/main" id="{55C408EA-8B45-4E36-8B14-8B01D68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rect-1">
            <a:extLst xmlns:a="http://schemas.openxmlformats.org/drawingml/2006/main">
              <a:ext uri="{FF2B5EF4-FFF2-40B4-BE49-F238E27FC236}">
                <a16:creationId xmlns:a16="http://schemas.microsoft.com/office/drawing/2014/main" id="{4CC20168-0359-46DC-B3E7-4A23829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A6CB9FF6-4E0C-431E-A29B-410F309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77702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场景背景与用户需求</a:t>
            </a:r>
          </a:p>
        </p:txBody>
      </p:sp>
      <p:sp>
        <p:nvSpPr>
          <p:cNvPr id="4" name="slide-2-text-3">
            <a:extLst xmlns:a="http://schemas.openxmlformats.org/drawingml/2006/main">
              <a:ext uri="{FF2B5EF4-FFF2-40B4-BE49-F238E27FC236}">
                <a16:creationId xmlns:a16="http://schemas.microsoft.com/office/drawing/2014/main" id="{78980EA2-D90E-4A05-AE40-0A99A97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489585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校庆内容，需要连接日常成长</a:t>
            </a:r>
          </a:p>
        </p:txBody>
      </p:sp>
      <p:sp>
        <p:nvSpPr>
          <p:cNvPr id="5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C6C1FBFE-E8D4-4484-BB1B-0F08DC4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4306"/>
            <a:ext cx="46482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作品以在校学生为核心受众，也便于校友和作品评审浏览。</a:t>
            </a:r>
          </a:p>
        </p:txBody>
      </p:sp>
      <p:sp>
        <p:nvSpPr>
          <p:cNvPr id="6" name="slide-2-line-5">
            <a:extLst xmlns:a="http://schemas.openxmlformats.org/drawingml/2006/main">
              <a:ext uri="{FF2B5EF4-FFF2-40B4-BE49-F238E27FC236}">
                <a16:creationId xmlns:a16="http://schemas.microsoft.com/office/drawing/2014/main" id="{C7541C69-0A3B-4529-B02C-D4ADC758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7" name="slide-2-text-6">
            <a:extLst xmlns:a="http://schemas.openxmlformats.org/drawingml/2006/main">
              <a:ext uri="{FF2B5EF4-FFF2-40B4-BE49-F238E27FC236}">
                <a16:creationId xmlns:a16="http://schemas.microsoft.com/office/drawing/2014/main" id="{5CC8CCFC-370B-405E-8F52-76D687D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8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9AFF9F1D-CEBA-4B2A-A1F6-7340211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02 / 24</a:t>
            </a:r>
          </a:p>
        </p:txBody>
      </p:sp>
      <p:sp>
        <p:nvSpPr>
          <p:cNvPr id="9" name="slide-2-roundRect-8">
            <a:extLst xmlns:a="http://schemas.openxmlformats.org/drawingml/2006/main">
              <a:ext uri="{FF2B5EF4-FFF2-40B4-BE49-F238E27FC236}">
                <a16:creationId xmlns:a16="http://schemas.microsoft.com/office/drawing/2014/main" id="{FB1A324F-F32C-4AE1-8C79-A534BE10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35052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10" name="slide-2-text-9">
            <a:extLst xmlns:a="http://schemas.openxmlformats.org/drawingml/2006/main">
              <a:ext uri="{FF2B5EF4-FFF2-40B4-BE49-F238E27FC236}">
                <a16:creationId xmlns:a16="http://schemas.microsoft.com/office/drawing/2014/main" id="{0DF45045-22EC-41C0-939F-5DBDEB67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9643"/>
            <a:ext cx="354974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slide-2-text-10">
            <a:extLst xmlns:a="http://schemas.openxmlformats.org/drawingml/2006/main">
              <a:ext uri="{FF2B5EF4-FFF2-40B4-BE49-F238E27FC236}">
                <a16:creationId xmlns:a16="http://schemas.microsoft.com/office/drawing/2014/main" id="{DF6DF0A7-1276-41FF-8D78-CB316537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3884"/>
            <a:ext cx="1066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了解母校</a:t>
            </a:r>
          </a:p>
        </p:txBody>
      </p:sp>
      <p:sp>
        <p:nvSpPr>
          <p:cNvPr id="12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93D88199-3A99-4A34-B065-1C1C6D4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5456"/>
            <a:ext cx="31051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校史资料分散在报道中。通过时间轴串</a:t>
            </a:r>
          </a:p>
        </p:txBody>
      </p:sp>
      <p:sp>
        <p:nvSpPr>
          <p:cNvPr id="13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90F1D82B-613E-4864-ADBB-AA0C0094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9776"/>
            <a:ext cx="2590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联发展节点，并保留原文入口。</a:t>
            </a:r>
          </a:p>
        </p:txBody>
      </p:sp>
      <p:sp>
        <p:nvSpPr>
          <p:cNvPr id="14" name="slide-2-roundRect-13">
            <a:extLst xmlns:a="http://schemas.openxmlformats.org/drawingml/2006/main">
              <a:ext uri="{FF2B5EF4-FFF2-40B4-BE49-F238E27FC236}">
                <a16:creationId xmlns:a16="http://schemas.microsoft.com/office/drawing/2014/main" id="{9872106D-8391-4ED8-916F-94D829D0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35052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15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B8ED43D0-3910-48EC-9643-3AF6D65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9643"/>
            <a:ext cx="354974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6ECC1949-0FB3-4505-8F54-581CA87C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3884"/>
            <a:ext cx="1066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寻找方向</a:t>
            </a:r>
          </a:p>
        </p:txBody>
      </p:sp>
      <p:sp>
        <p:nvSpPr>
          <p:cNvPr id="17" name="slide-2-text-16">
            <a:extLst xmlns:a="http://schemas.openxmlformats.org/drawingml/2006/main">
              <a:ext uri="{FF2B5EF4-FFF2-40B4-BE49-F238E27FC236}">
                <a16:creationId xmlns:a16="http://schemas.microsoft.com/office/drawing/2014/main" id="{94F090C5-5D3B-44A4-852A-CC443FB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5456"/>
            <a:ext cx="31051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校友经历提供榜样，但不能直接替代个</a:t>
            </a:r>
          </a:p>
        </p:txBody>
      </p:sp>
      <p:sp>
        <p:nvSpPr>
          <p:cNvPr id="18" name="slide-2-text-17">
            <a:extLst xmlns:a="http://schemas.openxmlformats.org/drawingml/2006/main">
              <a:ext uri="{FF2B5EF4-FFF2-40B4-BE49-F238E27FC236}">
                <a16:creationId xmlns:a16="http://schemas.microsoft.com/office/drawing/2014/main" id="{06E32805-95A6-470B-961F-976E35B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49776"/>
            <a:ext cx="2590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人方案。事实与建议分开呈现。</a:t>
            </a:r>
          </a:p>
        </p:txBody>
      </p:sp>
      <p:sp>
        <p:nvSpPr>
          <p:cNvPr id="19" name="slide-2-roundRect-18">
            <a:extLst xmlns:a="http://schemas.openxmlformats.org/drawingml/2006/main">
              <a:ext uri="{FF2B5EF4-FFF2-40B4-BE49-F238E27FC236}">
                <a16:creationId xmlns:a16="http://schemas.microsoft.com/office/drawing/2014/main" id="{4C55DC54-9287-41CF-BA44-EF10295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24075"/>
            <a:ext cx="35052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20" name="slide-2-text-19">
            <a:extLst xmlns:a="http://schemas.openxmlformats.org/drawingml/2006/main">
              <a:ext uri="{FF2B5EF4-FFF2-40B4-BE49-F238E27FC236}">
                <a16:creationId xmlns:a16="http://schemas.microsoft.com/office/drawing/2014/main" id="{CBF5ACC3-3409-4237-9C9C-1888D231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9643"/>
            <a:ext cx="354974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lide-2-text-20">
            <a:extLst xmlns:a="http://schemas.openxmlformats.org/drawingml/2006/main">
              <a:ext uri="{FF2B5EF4-FFF2-40B4-BE49-F238E27FC236}">
                <a16:creationId xmlns:a16="http://schemas.microsoft.com/office/drawing/2014/main" id="{BAD7A7AB-10E5-463F-8508-74C060A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3884"/>
            <a:ext cx="1066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开始行动</a:t>
            </a:r>
          </a:p>
        </p:txBody>
      </p:sp>
      <p:sp>
        <p:nvSpPr>
          <p:cNvPr id="22" name="slide-2-text-21">
            <a:extLst xmlns:a="http://schemas.openxmlformats.org/drawingml/2006/main">
              <a:ext uri="{FF2B5EF4-FFF2-40B4-BE49-F238E27FC236}">
                <a16:creationId xmlns:a16="http://schemas.microsoft.com/office/drawing/2014/main" id="{126D2B47-156E-45C9-9AD1-53B31B8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5456"/>
            <a:ext cx="31051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把阅读启发转化为分阶段任务，配套实</a:t>
            </a:r>
          </a:p>
        </p:txBody>
      </p:sp>
      <p:sp>
        <p:nvSpPr>
          <p:cNvPr id="23" name="slide-2-text-22">
            <a:extLst xmlns:a="http://schemas.openxmlformats.org/drawingml/2006/main">
              <a:ext uri="{FF2B5EF4-FFF2-40B4-BE49-F238E27FC236}">
                <a16:creationId xmlns:a16="http://schemas.microsoft.com/office/drawing/2014/main" id="{E9C0BD78-C2CB-4038-A9EF-7285386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9776"/>
            <a:ext cx="2590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践与备份，持续记录完成进度。</a:t>
            </a:r>
          </a:p>
        </p:txBody>
      </p:sp>
      <p:sp>
        <p:nvSpPr>
          <p:cNvPr id="24" name="slide-2-text-23">
            <a:extLst xmlns:a="http://schemas.openxmlformats.org/drawingml/2006/main">
              <a:ext uri="{FF2B5EF4-FFF2-40B4-BE49-F238E27FC236}">
                <a16:creationId xmlns:a16="http://schemas.microsoft.com/office/drawing/2014/main" id="{1493B43F-331B-4AF4-A5D3-950009F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2649"/>
            <a:ext cx="8275439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价值闭环：回望校史 → 走近校友 → 选择成长路线 → 完成实践 → 记录与复盘。</a:t>
            </a:r>
          </a:p>
        </p:txBody>
      </p:sp>
    </p:spTree>
    <p:extLst>
      <p:ext uri="{BB962C8B-B14F-4D97-AF65-F5344CB8AC3E}">
        <p14:creationId xmlns:p14="http://schemas.microsoft.com/office/powerpoint/2010/main" val="722096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A0CA5-15B2-4B6D-A2E6-CC5874CB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699FE-CA77-40C8-AFE0-82B8D16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用户需求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48C15-B86B-45C3-B2B9-F59D1F9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使用场景与操作路径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D1381-16CB-47DA-96F1-D75DD0D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以在校学生为核心受众，也便于校友和评审浏览。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BAF5A-EE4B-499B-86FB-EF36F47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45D2B-4DEA-44E7-9286-EE4C876E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699B6-6A45-494C-9F57-E9E738F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初次了解母校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5071-FEBC-4BBF-A0CE-DCE2A84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阅读校庆首页与时间轴，打开原文查看学校发展节点。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4543B-0B31-4AEA-8451-03917FB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857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寻找学习方向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088C2-9D6E-4D10-9322-59EF1F3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按关键词和成长方向筛选校友，阅读经历并收藏感兴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25919-2639-4BBC-BF61-F167AD2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趣的档案。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76147-823C-45B5-A3E8-CE08DDB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857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开始一次实践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2D4BC-0411-4B91-BF92-D58CCCF1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选择成长路线，按步骤完成教学案例，把成果写进自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0C01E-95DA-443D-AF16-1B560450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己的项目说明。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6973C-8F0C-4308-8D52-159CA818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857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持续管理计划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A138B-AE67-45FF-8604-9F6C977E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调整任务与目标，记录完成进度；更换环境前先导出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BCEBE-55D7-4F5A-AC82-ED5F29C1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52975"/>
            <a:ext cx="50863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JSON备份。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8EE6E-4E7F-4DEB-8F06-1A5E47AF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03 / 24</a:t>
            </a:r>
          </a:p>
        </p:txBody>
      </p:sp>
    </p:spTree>
    <p:extLst>
      <p:ext uri="{BB962C8B-B14F-4D97-AF65-F5344CB8AC3E}">
        <p14:creationId xmlns:p14="http://schemas.microsoft.com/office/powerpoint/2010/main" val="1738988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3-rect-0">
            <a:extLst xmlns:a="http://schemas.openxmlformats.org/drawingml/2006/main">
              <a:ext uri="{FF2B5EF4-FFF2-40B4-BE49-F238E27FC236}">
                <a16:creationId xmlns:a16="http://schemas.microsoft.com/office/drawing/2014/main" id="{2A0AE37B-A955-4FC4-96EE-2E69D10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rect-1">
            <a:extLst xmlns:a="http://schemas.openxmlformats.org/drawingml/2006/main">
              <a:ext uri="{FF2B5EF4-FFF2-40B4-BE49-F238E27FC236}">
                <a16:creationId xmlns:a16="http://schemas.microsoft.com/office/drawing/2014/main" id="{F490FD5C-F6A1-4B23-B6A0-8DECC149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13564740-2526-4C93-8428-986F7B41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11027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功能总览</a:t>
            </a:r>
          </a:p>
        </p:txBody>
      </p:sp>
      <p:sp>
        <p:nvSpPr>
          <p:cNvPr id="4" name="slide-3-text-3">
            <a:extLst xmlns:a="http://schemas.openxmlformats.org/drawingml/2006/main">
              <a:ext uri="{FF2B5EF4-FFF2-40B4-BE49-F238E27FC236}">
                <a16:creationId xmlns:a16="http://schemas.microsoft.com/office/drawing/2014/main" id="{AD5AF8C1-2853-449C-B029-19C18EF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453390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五个入口，连接阅读与行动</a:t>
            </a:r>
          </a:p>
        </p:txBody>
      </p:sp>
      <p:sp>
        <p:nvSpPr>
          <p:cNvPr id="5" name="slide-3-line-4">
            <a:extLst xmlns:a="http://schemas.openxmlformats.org/drawingml/2006/main">
              <a:ext uri="{FF2B5EF4-FFF2-40B4-BE49-F238E27FC236}">
                <a16:creationId xmlns:a16="http://schemas.microsoft.com/office/drawing/2014/main" id="{E54378A6-180B-4297-BDE5-2DBEB67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6" name="slide-3-text-5">
            <a:extLst xmlns:a="http://schemas.openxmlformats.org/drawingml/2006/main">
              <a:ext uri="{FF2B5EF4-FFF2-40B4-BE49-F238E27FC236}">
                <a16:creationId xmlns:a16="http://schemas.microsoft.com/office/drawing/2014/main" id="{164E23D8-9A71-49C0-901D-A63038C7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slide-3-text-6">
            <a:extLst xmlns:a="http://schemas.openxmlformats.org/drawingml/2006/main">
              <a:ext uri="{FF2B5EF4-FFF2-40B4-BE49-F238E27FC236}">
                <a16:creationId xmlns:a16="http://schemas.microsoft.com/office/drawing/2014/main" id="{7609F4CA-E042-416A-926D-204B456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04 / 24</a:t>
            </a:r>
          </a:p>
        </p:txBody>
      </p:sp>
      <p:sp>
        <p:nvSpPr>
          <p:cNvPr id="8" name="slide-3-roundRect-7">
            <a:extLst xmlns:a="http://schemas.openxmlformats.org/drawingml/2006/main">
              <a:ext uri="{FF2B5EF4-FFF2-40B4-BE49-F238E27FC236}">
                <a16:creationId xmlns:a16="http://schemas.microsoft.com/office/drawing/2014/main" id="{0A3D9B67-730C-42A4-912C-66E5180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095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3-text-8">
            <a:extLst xmlns:a="http://schemas.openxmlformats.org/drawingml/2006/main">
              <a:ext uri="{FF2B5EF4-FFF2-40B4-BE49-F238E27FC236}">
                <a16:creationId xmlns:a16="http://schemas.microsoft.com/office/drawing/2014/main" id="{C6284337-7CDF-4CD1-BDB6-89B0F72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21" y="2224694"/>
            <a:ext cx="31385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lide-3-text-9">
            <a:extLst xmlns:a="http://schemas.openxmlformats.org/drawingml/2006/main">
              <a:ext uri="{FF2B5EF4-FFF2-40B4-BE49-F238E27FC236}">
                <a16:creationId xmlns:a16="http://schemas.microsoft.com/office/drawing/2014/main" id="{5D751A9F-E797-4962-A455-5B5CBE4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3724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校庆首页</a:t>
            </a:r>
          </a:p>
        </p:txBody>
      </p:sp>
      <p:sp>
        <p:nvSpPr>
          <p:cNvPr id="11" name="slide-3-text-10">
            <a:extLst xmlns:a="http://schemas.openxmlformats.org/drawingml/2006/main">
              <a:ext uri="{FF2B5EF4-FFF2-40B4-BE49-F238E27FC236}">
                <a16:creationId xmlns:a16="http://schemas.microsoft.com/office/drawing/2014/main" id="{5C385166-AE3D-4FD3-9154-D390ECE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4662"/>
            <a:ext cx="3461928" cy="20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90周年主题视觉、精选节点与成长入口</a:t>
            </a:r>
          </a:p>
        </p:txBody>
      </p:sp>
      <p:sp>
        <p:nvSpPr>
          <p:cNvPr id="12" name="slide-3-roundRect-11">
            <a:extLst xmlns:a="http://schemas.openxmlformats.org/drawingml/2006/main">
              <a:ext uri="{FF2B5EF4-FFF2-40B4-BE49-F238E27FC236}">
                <a16:creationId xmlns:a16="http://schemas.microsoft.com/office/drawing/2014/main" id="{6E68D5B5-EE08-4D90-B7BC-6C545627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95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3-text-12">
            <a:extLst xmlns:a="http://schemas.openxmlformats.org/drawingml/2006/main">
              <a:ext uri="{FF2B5EF4-FFF2-40B4-BE49-F238E27FC236}">
                <a16:creationId xmlns:a16="http://schemas.microsoft.com/office/drawing/2014/main" id="{6D0B398F-6CA4-49FC-A03B-BF4A458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38" y="2910104"/>
            <a:ext cx="31385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lide-3-text-13">
            <a:extLst xmlns:a="http://schemas.openxmlformats.org/drawingml/2006/main">
              <a:ext uri="{FF2B5EF4-FFF2-40B4-BE49-F238E27FC236}">
                <a16:creationId xmlns:a16="http://schemas.microsoft.com/office/drawing/2014/main" id="{F7CE23FC-26D4-4419-A5E0-15C16332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9524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九秩校史</a:t>
            </a:r>
          </a:p>
        </p:txBody>
      </p:sp>
      <p:sp>
        <p:nvSpPr>
          <p:cNvPr id="15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0906D9FC-5A01-40E1-B120-3569EC3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0462"/>
            <a:ext cx="2969214" cy="20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9个发展节点、时间轴与资料来源</a:t>
            </a:r>
          </a:p>
        </p:txBody>
      </p:sp>
      <p:sp>
        <p:nvSpPr>
          <p:cNvPr id="16" name="slide-3-roundRect-15">
            <a:extLst xmlns:a="http://schemas.openxmlformats.org/drawingml/2006/main">
              <a:ext uri="{FF2B5EF4-FFF2-40B4-BE49-F238E27FC236}">
                <a16:creationId xmlns:a16="http://schemas.microsoft.com/office/drawing/2014/main" id="{C2049753-5B24-4682-AF04-59132CE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095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lide-3-text-16">
            <a:extLst xmlns:a="http://schemas.openxmlformats.org/drawingml/2006/main">
              <a:ext uri="{FF2B5EF4-FFF2-40B4-BE49-F238E27FC236}">
                <a16:creationId xmlns:a16="http://schemas.microsoft.com/office/drawing/2014/main" id="{06AB3BA4-D131-477E-A058-977F166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45" y="3594585"/>
            <a:ext cx="31385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37163A9A-8198-4358-A851-4431A05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5324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校友风采</a:t>
            </a:r>
          </a:p>
        </p:txBody>
      </p:sp>
      <p:sp>
        <p:nvSpPr>
          <p:cNvPr id="19" name="slide-3-text-18">
            <a:extLst xmlns:a="http://schemas.openxmlformats.org/drawingml/2006/main">
              <a:ext uri="{FF2B5EF4-FFF2-40B4-BE49-F238E27FC236}">
                <a16:creationId xmlns:a16="http://schemas.microsoft.com/office/drawing/2014/main" id="{2F938484-4815-45A5-9A1E-8B659A1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6262"/>
            <a:ext cx="3540714" cy="20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4份档案，搜索、筛选、收藏与经历出处</a:t>
            </a:r>
          </a:p>
        </p:txBody>
      </p:sp>
      <p:sp>
        <p:nvSpPr>
          <p:cNvPr id="20" name="slide-3-roundRect-19">
            <a:extLst xmlns:a="http://schemas.openxmlformats.org/drawingml/2006/main">
              <a:ext uri="{FF2B5EF4-FFF2-40B4-BE49-F238E27FC236}">
                <a16:creationId xmlns:a16="http://schemas.microsoft.com/office/drawing/2014/main" id="{00273CB5-804B-48A2-A6A1-A924FD92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095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-3-text-20">
            <a:extLst xmlns:a="http://schemas.openxmlformats.org/drawingml/2006/main">
              <a:ext uri="{FF2B5EF4-FFF2-40B4-BE49-F238E27FC236}">
                <a16:creationId xmlns:a16="http://schemas.microsoft.com/office/drawing/2014/main" id="{B75E97C4-2118-44E1-8FFA-8EE3A8F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19" y="4280434"/>
            <a:ext cx="31385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lide-3-text-21">
            <a:extLst xmlns:a="http://schemas.openxmlformats.org/drawingml/2006/main">
              <a:ext uri="{FF2B5EF4-FFF2-40B4-BE49-F238E27FC236}">
                <a16:creationId xmlns:a16="http://schemas.microsoft.com/office/drawing/2014/main" id="{426FF378-98EA-4437-BD23-4698C8B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1124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成长传承</a:t>
            </a:r>
          </a:p>
        </p:txBody>
      </p:sp>
      <p:sp>
        <p:nvSpPr>
          <p:cNvPr id="23" name="slide-3-text-22">
            <a:extLst xmlns:a="http://schemas.openxmlformats.org/drawingml/2006/main">
              <a:ext uri="{FF2B5EF4-FFF2-40B4-BE49-F238E27FC236}">
                <a16:creationId xmlns:a16="http://schemas.microsoft.com/office/drawing/2014/main" id="{52AAE9D7-7014-4276-991C-FD0C9A5B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2062"/>
            <a:ext cx="3192642" cy="20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3条路线、3个实践案例、6张方法卡</a:t>
            </a:r>
          </a:p>
        </p:txBody>
      </p:sp>
      <p:sp>
        <p:nvSpPr>
          <p:cNvPr id="24" name="slide-3-roundRect-23">
            <a:extLst xmlns:a="http://schemas.openxmlformats.org/drawingml/2006/main">
              <a:ext uri="{FF2B5EF4-FFF2-40B4-BE49-F238E27FC236}">
                <a16:creationId xmlns:a16="http://schemas.microsoft.com/office/drawing/2014/main" id="{BE1821CD-FF7E-40A0-B649-770695F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095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lide-3-text-24">
            <a:extLst xmlns:a="http://schemas.openxmlformats.org/drawingml/2006/main">
              <a:ext uri="{FF2B5EF4-FFF2-40B4-BE49-F238E27FC236}">
                <a16:creationId xmlns:a16="http://schemas.microsoft.com/office/drawing/2014/main" id="{FE331025-F2C7-4016-9D72-0F7D228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15" y="4964916"/>
            <a:ext cx="313855" cy="21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8E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slide-3-text-25">
            <a:extLst xmlns:a="http://schemas.openxmlformats.org/drawingml/2006/main">
              <a:ext uri="{FF2B5EF4-FFF2-40B4-BE49-F238E27FC236}">
                <a16:creationId xmlns:a16="http://schemas.microsoft.com/office/drawing/2014/main" id="{5444F934-8CE0-4EFB-B61B-E5DAEA75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6924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我的成长</a:t>
            </a:r>
          </a:p>
        </p:txBody>
      </p:sp>
      <p:sp>
        <p:nvSpPr>
          <p:cNvPr id="27" name="slide-3-text-26">
            <a:extLst xmlns:a="http://schemas.openxmlformats.org/drawingml/2006/main">
              <a:ext uri="{FF2B5EF4-FFF2-40B4-BE49-F238E27FC236}">
                <a16:creationId xmlns:a16="http://schemas.microsoft.com/office/drawing/2014/main" id="{2E4F3B92-9E53-48D7-AFA4-A345127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7862"/>
            <a:ext cx="3924505" cy="20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计划编辑、任务进度、刷新保存与JSON备份</a:t>
            </a:r>
          </a:p>
        </p:txBody>
      </p:sp>
      <p:sp>
        <p:nvSpPr>
          <p:cNvPr id="28" name="slide-3-text-27">
            <a:extLst xmlns:a="http://schemas.openxmlformats.org/drawingml/2006/main">
              <a:ext uri="{FF2B5EF4-FFF2-40B4-BE49-F238E27FC236}">
                <a16:creationId xmlns:a16="http://schemas.microsoft.com/office/drawing/2014/main" id="{699D3D6C-C2E6-491E-BC43-48D67967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5331"/>
            <a:ext cx="6222309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升学 AI 位于“成长传承 → 升学深造”，先检索、后预览，再由用户确认保存。</a:t>
            </a:r>
          </a:p>
        </p:txBody>
      </p:sp>
    </p:spTree>
    <p:extLst>
      <p:ext uri="{BB962C8B-B14F-4D97-AF65-F5344CB8AC3E}">
        <p14:creationId xmlns:p14="http://schemas.microsoft.com/office/powerpoint/2010/main" val="609573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7F442-D371-4E38-AA5F-2ED91462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7746E-798F-470F-8EA1-10C4459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校庆首页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BEC39-F2E9-48C1-816B-A12E886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校庆首页与献礼计划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4C096-6278-421C-B1DC-09BC6CA8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九秩主题是学生创作专题，页面标明非官方活动公告。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B92DC-C0C7-4B83-A040-060342A2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6BB83-BDA3-4744-BE74-988934E7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55332-B34E-418C-B222-CA2A663F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F788-B289-4ADB-84E9-3E50281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09800"/>
            <a:ext cx="3143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回望校史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065AF-CF86-4E96-A603-B81FEFBE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64198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选择一个感兴趣的年份，阅读原始资料并留下自己的认识。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59C07-3472-48B5-B58D-6BF690F5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715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1CA72-E091-45B4-B664-72C3527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3143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走近校友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162A0-1FC0-4CD9-92DC-CF0E5549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64198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阅读一位校友的真实经历，写下一条可用于自己的成长启发。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DC3D0-ECD7-42DB-93E6-4A06AD34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715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C0893-18E9-4411-BEF1-7CD2FB9E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0"/>
            <a:ext cx="31432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实践献礼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D1F69-D6CA-40ED-9959-5E610BC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64198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完成实践库中的一个案例，记录成果与复盘。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7AD6F-ED4E-4CB4-B392-5F98EA0C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05 / 24</a:t>
            </a:r>
          </a:p>
        </p:txBody>
      </p:sp>
    </p:spTree>
    <p:extLst>
      <p:ext uri="{BB962C8B-B14F-4D97-AF65-F5344CB8AC3E}">
        <p14:creationId xmlns:p14="http://schemas.microsoft.com/office/powerpoint/2010/main" val="1757149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rect-0">
            <a:extLst xmlns:a="http://schemas.openxmlformats.org/drawingml/2006/main">
              <a:ext uri="{FF2B5EF4-FFF2-40B4-BE49-F238E27FC236}">
                <a16:creationId xmlns:a16="http://schemas.microsoft.com/office/drawing/2014/main" id="{4B0619F6-ADE7-4514-AA30-1C260226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5-rect-1">
            <a:extLst xmlns:a="http://schemas.openxmlformats.org/drawingml/2006/main">
              <a:ext uri="{FF2B5EF4-FFF2-40B4-BE49-F238E27FC236}">
                <a16:creationId xmlns:a16="http://schemas.microsoft.com/office/drawing/2014/main" id="{68195EBF-FCC8-44A3-AF86-06FA5C1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8F6DC21B-DA08-4E60-B1BE-4CE40FF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24362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校史与校友</a:t>
            </a:r>
          </a:p>
        </p:txBody>
      </p:sp>
      <p:sp>
        <p:nvSpPr>
          <p:cNvPr id="4" name="slide-5-text-3">
            <a:extLst xmlns:a="http://schemas.openxmlformats.org/drawingml/2006/main">
              <a:ext uri="{FF2B5EF4-FFF2-40B4-BE49-F238E27FC236}">
                <a16:creationId xmlns:a16="http://schemas.microsoft.com/office/drawing/2014/main" id="{C4014361-07EC-4FD0-99C7-6B2A4F8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489585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让事实有出处，让榜样可追溯</a:t>
            </a:r>
          </a:p>
        </p:txBody>
      </p:sp>
      <p:sp>
        <p:nvSpPr>
          <p:cNvPr id="5" name="slide-5-line-4">
            <a:extLst xmlns:a="http://schemas.openxmlformats.org/drawingml/2006/main">
              <a:ext uri="{FF2B5EF4-FFF2-40B4-BE49-F238E27FC236}">
                <a16:creationId xmlns:a16="http://schemas.microsoft.com/office/drawing/2014/main" id="{3BCD12C5-708E-4FF9-9A3E-97FBED3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6" name="slide-5-text-5">
            <a:extLst xmlns:a="http://schemas.openxmlformats.org/drawingml/2006/main">
              <a:ext uri="{FF2B5EF4-FFF2-40B4-BE49-F238E27FC236}">
                <a16:creationId xmlns:a16="http://schemas.microsoft.com/office/drawing/2014/main" id="{E07659DB-B0B3-421A-9CC2-73C0DC5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slide-5-text-6">
            <a:extLst xmlns:a="http://schemas.openxmlformats.org/drawingml/2006/main">
              <a:ext uri="{FF2B5EF4-FFF2-40B4-BE49-F238E27FC236}">
                <a16:creationId xmlns:a16="http://schemas.microsoft.com/office/drawing/2014/main" id="{0D597170-4329-4C50-A146-700E7EAA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06 / 24</a:t>
            </a:r>
          </a:p>
        </p:txBody>
      </p:sp>
      <p:sp>
        <p:nvSpPr>
          <p:cNvPr id="8" name="slide-5-roundRect-7">
            <a:extLst xmlns:a="http://schemas.openxmlformats.org/drawingml/2006/main">
              <a:ext uri="{FF2B5EF4-FFF2-40B4-BE49-F238E27FC236}">
                <a16:creationId xmlns:a16="http://schemas.microsoft.com/office/drawing/2014/main" id="{4DF4C194-598B-40D3-B4D6-85F7809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4AA41-8D3D-472A-A592-1FAB1663B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348c5e6dd4f88"/>
          <a:stretch xmlns:a="http://schemas.openxmlformats.org/drawingml/2006/main"/>
        </p:blipFill>
        <p:spPr>
          <a:xfrm xmlns:a="http://schemas.openxmlformats.org/drawingml/2006/main">
            <a:off x="612775" y="1885950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0" name="slide-5-roundRect-9">
            <a:extLst xmlns:a="http://schemas.openxmlformats.org/drawingml/2006/main">
              <a:ext uri="{FF2B5EF4-FFF2-40B4-BE49-F238E27FC236}">
                <a16:creationId xmlns:a16="http://schemas.microsoft.com/office/drawing/2014/main" id="{BA2FCC4E-4AA5-431D-AD8D-795524C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10B24-F4B7-4152-BD79-13FF2E5C2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d0729f65647c3"/>
          <a:stretch xmlns:a="http://schemas.openxmlformats.org/drawingml/2006/main"/>
        </p:blipFill>
        <p:spPr>
          <a:xfrm xmlns:a="http://schemas.openxmlformats.org/drawingml/2006/main">
            <a:off x="6346825" y="1885950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2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BBA14476-6E10-46EE-9241-1E1381DA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9056"/>
            <a:ext cx="5294821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校史：1936—2026，发展节点保留资料链接和日期；纪念主题与已</a:t>
            </a:r>
          </a:p>
        </p:txBody>
      </p:sp>
      <p:sp>
        <p:nvSpPr>
          <p:cNvPr id="13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3E69C456-C34E-4B68-9AC6-B42D75F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3376"/>
            <a:ext cx="13906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记录事实区分。</a:t>
            </a:r>
          </a:p>
        </p:txBody>
      </p:sp>
      <p:sp>
        <p:nvSpPr>
          <p:cNvPr id="14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F608C395-2CC5-49F7-BCDE-0A559AE0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9056"/>
            <a:ext cx="53340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校友：公开经历、照片出处、平台分析分别说明；活动现场照不冒充</a:t>
            </a:r>
          </a:p>
        </p:txBody>
      </p:sp>
      <p:sp>
        <p:nvSpPr>
          <p:cNvPr id="15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6ABEB7ED-F04D-432F-BDA2-689A866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83376"/>
            <a:ext cx="1047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人物独照。</a:t>
            </a:r>
          </a:p>
        </p:txBody>
      </p:sp>
      <p:sp>
        <p:nvSpPr>
          <p:cNvPr id="16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16D7E401-8A38-43E2-90DF-28409F47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7828"/>
            <a:ext cx="4680486" cy="131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来源：V3 data.js与界面所列学校/教师主页；完整链接见 readme/来源索引.md。</a:t>
            </a:r>
          </a:p>
        </p:txBody>
      </p:sp>
    </p:spTree>
    <p:extLst>
      <p:ext uri="{BB962C8B-B14F-4D97-AF65-F5344CB8AC3E}">
        <p14:creationId xmlns:p14="http://schemas.microsoft.com/office/powerpoint/2010/main" val="372522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94D3D-5D83-4818-AA9F-4C684D37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D26F7-04E2-4359-BF86-58D141BD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校史展示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8DEB-3A3D-41A7-A863-9078568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校史资料与来源核对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6624A-F859-4D62-92A4-743D0E4C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F70FE-90D2-45FD-83C2-C10E550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37148-58BF-4CD7-B3BD-8D5859181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f598ad0f143bb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4CC6C-3655-4180-86B5-DCB04C6B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9个发展节点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DDFE7-04A3-4C7A-99E2-224CA80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时间轴组织1936—2026的既有记录，每个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F55A7-65BF-4F31-8D7D-CC07639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节点保留资料入口。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387C1-37ED-476F-89BE-8905288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阅读原文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9F1EB-F169-43B1-B586-607E521A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根据标题、发布单位和时间核对出处，区分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30204-12F7-487D-946A-FBC2651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历史记录与纪念主题。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B6A52-5CC5-4842-A63B-EAF34DA6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A5054-4D9D-46F0-8F3C-A2E6B124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提交包readme/来源索引.md汇总原有资料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0087B-0141-4111-965D-0296AFD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链接，便于复核。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D8D3B-7EE1-4E31-82C6-4C457DF9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介绍沿用V3已有校史资料，不把纪念主题当作官方校庆公告。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E9E46-EEAA-4492-A994-C22C5D4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07 / 24</a:t>
            </a:r>
          </a:p>
        </p:txBody>
      </p:sp>
    </p:spTree>
    <p:extLst>
      <p:ext uri="{BB962C8B-B14F-4D97-AF65-F5344CB8AC3E}">
        <p14:creationId xmlns:p14="http://schemas.microsoft.com/office/powerpoint/2010/main" val="812603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CB0B3-659F-49FC-9DB3-5BF7F5A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DD1D-76E4-4789-8C80-B1C52FD3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校友风采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72078-64FD-4984-8125-4C03600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校友搜索、筛选与收藏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34AB-A329-4BAE-9DC9-A93F106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B459-699A-4E08-BAF6-99C2C1AA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CB790-E594-4425-8866-EE9EB1759E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b7c576c424f8f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01181-7636-4EA1-B0FB-EAB9335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定位档案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7B52E-442E-49CD-8A5C-ABBD7AD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输入关键词，并按技能竞赛、升学深造或技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24983-281B-4381-A410-43B2956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术就业方向筛选。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FB092-0F4A-4263-A417-526597B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阅读详情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169B5-75D6-4983-A6B6-688B345E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打开档案查看公开经历、照片说明、时间轴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FBA09-F87F-4F33-A7D0-470E5979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和资料出处。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EC8C5-E1E3-45D8-80B0-DC3333A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保留兴趣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0E92-B2A7-4397-BB17-E6D1E7F3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收藏操作保存在当前浏览器，便于返回查看。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C9D5A-7EB5-46D9-99A7-D5E260F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08 / 24</a:t>
            </a:r>
          </a:p>
        </p:txBody>
      </p:sp>
    </p:spTree>
    <p:extLst>
      <p:ext uri="{BB962C8B-B14F-4D97-AF65-F5344CB8AC3E}">
        <p14:creationId xmlns:p14="http://schemas.microsoft.com/office/powerpoint/2010/main" val="922149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8A3A6-25E8-4177-A7CC-A4E11DC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729A5-74A1-441C-8083-133F3A8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校友风采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FC061-4E22-4010-9E03-B842701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四份校友档案与信息边界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6DAEA-F0CF-4E58-B037-9E3AB6F4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人物信息、照片出处与平台分析分别说明。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D96D7-EAAB-4D9B-8D6F-BB76DBEF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F693-F3DC-4503-A4B2-F14A20A6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ECF07-3D61-41DC-8865-E84F0EB5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王宗宇 · 2014级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B73E-163E-4A7B-8350-932AE2D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已有档案整理云计算竞赛、继续升学与职业发展经历。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68181-9784-4100-8AC6-1A4E30E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专业与照片来源保留学校专访说明。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37F97-CF14-4FC0-97F6-23EB1D7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石振邦 · 2018级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E1D81-7FB7-4214-AA23-5075D489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6222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已有报道记录返校交流及工作单位。配图是返校活动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719EE-751A-4461-9402-47AA0F6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现场，页面明确非本人独照。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787BA-46A0-4088-890D-BC04207F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王功明 · 2007级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A4E78-98D9-4D44-829B-B79F7FE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档案主题涉及通讯技术、深造与科研。具体经历以原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0D640-E221-4E46-8AB8-7932268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有学校及教师主页资料为准。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B6715-27F1-41C4-8934-9DC1457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陈亮 · 年级未披露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BBE75-F626-477F-B13B-3916F431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档案主题为信创与网络安全、人工智能行业应用。原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4A1E0-736A-4172-93AC-E4A61D0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910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报道未披露的年级与专业不补写。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B952-69F5-44F1-9D14-B1DF790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09 / 24</a:t>
            </a:r>
          </a:p>
        </p:txBody>
      </p:sp>
    </p:spTree>
    <p:extLst>
      <p:ext uri="{BB962C8B-B14F-4D97-AF65-F5344CB8AC3E}">
        <p14:creationId xmlns:p14="http://schemas.microsoft.com/office/powerpoint/2010/main" val="1567293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66452-F11D-45DB-9179-837C6A2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7D82-D16A-4780-A9E5-D1540B0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成长传承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529EE-43E8-4D8F-9460-39DB05E3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成长路线与阶段任务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6FD8A-775A-4952-8F2B-7BFB5768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FBC83-3C2F-44B9-8613-4ED8CF0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6181-F444-4FCA-AEB8-CFA7C9238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86babf1c04688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C746B-6137-4E96-9428-4FF45E3C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选择方向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0FCF5-BE32-42C3-99DD-8CE120D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技能竞赛、升学深造、技术就业三条路线。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1FC9-FD6F-4B45-9806-8B96B17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按阶段行动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5C976-196D-4C05-A9FC-BB2A342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每条路线包含4个阶段、12项初始任务，可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8C069-1F4C-4CF5-9FF5-220EE3F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结合个人情况调整。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65221-ECBA-4B16-8BE1-791F6E0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配套学习材料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33956-122C-4CBB-9F23-0A3D1950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路线关联实践案例、方法卡和资料，帮助把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5F94B-297C-4C40-8867-11090296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阅读转化为行动。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BD3A3-CD8D-4902-96CB-2252DFC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成长路线属于平台建议，不描述为校友实际使用过的学习方案。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FC3F7-C519-423B-AA15-B1F7BA0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450197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6-rect-0">
            <a:extLst xmlns:a="http://schemas.openxmlformats.org/drawingml/2006/main">
              <a:ext uri="{FF2B5EF4-FFF2-40B4-BE49-F238E27FC236}">
                <a16:creationId xmlns:a16="http://schemas.microsoft.com/office/drawing/2014/main" id="{958B1647-F157-43C7-A64C-3D0F4E0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6-rect-1">
            <a:extLst xmlns:a="http://schemas.openxmlformats.org/drawingml/2006/main">
              <a:ext uri="{FF2B5EF4-FFF2-40B4-BE49-F238E27FC236}">
                <a16:creationId xmlns:a16="http://schemas.microsoft.com/office/drawing/2014/main" id="{544C5FE3-59EC-4EE4-ADB8-6682A9DF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3B6A96E7-7DDD-47A5-8F37-A7F43E2C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51032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成长路线与实践</a:t>
            </a:r>
          </a:p>
        </p:txBody>
      </p:sp>
      <p:sp>
        <p:nvSpPr>
          <p:cNvPr id="4" name="slide-6-text-3">
            <a:extLst xmlns:a="http://schemas.openxmlformats.org/drawingml/2006/main">
              <a:ext uri="{FF2B5EF4-FFF2-40B4-BE49-F238E27FC236}">
                <a16:creationId xmlns:a16="http://schemas.microsoft.com/office/drawing/2014/main" id="{2C85089D-52F5-4786-AB6A-C870E509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561975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从“我想学”，走到“我完成了”</a:t>
            </a:r>
          </a:p>
        </p:txBody>
      </p:sp>
      <p:sp>
        <p:nvSpPr>
          <p:cNvPr id="5" name="slide-6-line-4">
            <a:extLst xmlns:a="http://schemas.openxmlformats.org/drawingml/2006/main">
              <a:ext uri="{FF2B5EF4-FFF2-40B4-BE49-F238E27FC236}">
                <a16:creationId xmlns:a16="http://schemas.microsoft.com/office/drawing/2014/main" id="{983E680F-A13F-4695-A522-2E27026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6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F99818C6-1C42-4E99-92D8-F10C73A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slide-6-text-6">
            <a:extLst xmlns:a="http://schemas.openxmlformats.org/drawingml/2006/main">
              <a:ext uri="{FF2B5EF4-FFF2-40B4-BE49-F238E27FC236}">
                <a16:creationId xmlns:a16="http://schemas.microsoft.com/office/drawing/2014/main" id="{24C61C12-233A-4DD4-A7CD-344026B9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11 / 24</a:t>
            </a:r>
          </a:p>
        </p:txBody>
      </p:sp>
      <p:sp>
        <p:nvSpPr>
          <p:cNvPr id="8" name="slide-6-roundRect-7">
            <a:extLst xmlns:a="http://schemas.openxmlformats.org/drawingml/2006/main">
              <a:ext uri="{FF2B5EF4-FFF2-40B4-BE49-F238E27FC236}">
                <a16:creationId xmlns:a16="http://schemas.microsoft.com/office/drawing/2014/main" id="{07BDB46C-90B5-42C0-9D81-8C005AE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C136E-BB06-4BA4-9F94-E78205C6A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3e99727ff4b5e"/>
          <a:stretch xmlns:a="http://schemas.openxmlformats.org/drawingml/2006/main"/>
        </p:blipFill>
        <p:spPr>
          <a:xfrm xmlns:a="http://schemas.openxmlformats.org/drawingml/2006/main">
            <a:off x="612775" y="1885950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0" name="slide-6-roundRect-9">
            <a:extLst xmlns:a="http://schemas.openxmlformats.org/drawingml/2006/main">
              <a:ext uri="{FF2B5EF4-FFF2-40B4-BE49-F238E27FC236}">
                <a16:creationId xmlns:a16="http://schemas.microsoft.com/office/drawing/2014/main" id="{EF9392A2-723C-4821-A9E5-410E11A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84967-FCB8-4D0D-8631-489DBC7A1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d7a000e4f4671"/>
          <a:stretch xmlns:a="http://schemas.openxmlformats.org/drawingml/2006/main"/>
        </p:blipFill>
        <p:spPr>
          <a:xfrm xmlns:a="http://schemas.openxmlformats.org/drawingml/2006/main">
            <a:off x="6346825" y="1885950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2" name="slide-6-text-11">
            <a:extLst xmlns:a="http://schemas.openxmlformats.org/drawingml/2006/main">
              <a:ext uri="{FF2B5EF4-FFF2-40B4-BE49-F238E27FC236}">
                <a16:creationId xmlns:a16="http://schemas.microsoft.com/office/drawing/2014/main" id="{F2E130A0-0F49-41D1-B81A-9ECE38D7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9056"/>
            <a:ext cx="5238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3条路线，每条4个阶段、12项初始任务。</a:t>
            </a:r>
          </a:p>
        </p:txBody>
      </p:sp>
      <p:sp>
        <p:nvSpPr>
          <p:cNvPr id="13" name="slide-6-text-12">
            <a:extLst xmlns:a="http://schemas.openxmlformats.org/drawingml/2006/main">
              <a:ext uri="{FF2B5EF4-FFF2-40B4-BE49-F238E27FC236}">
                <a16:creationId xmlns:a16="http://schemas.microsoft.com/office/drawing/2014/main" id="{E54355C7-0254-424A-9155-9B1155A5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3376"/>
            <a:ext cx="5238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指南包含准备、步骤、样例、验收和排障。</a:t>
            </a:r>
          </a:p>
        </p:txBody>
      </p:sp>
      <p:sp>
        <p:nvSpPr>
          <p:cNvPr id="14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1E9F6F62-1601-437D-A632-0466810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9056"/>
            <a:ext cx="5238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网页、Python统计、本地HTTP排障：下载起始文件，</a:t>
            </a:r>
          </a:p>
        </p:txBody>
      </p:sp>
      <p:sp>
        <p:nvSpPr>
          <p:cNvPr id="15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D6CA545E-CD5C-43DE-866E-CDD43C7F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83376"/>
            <a:ext cx="5238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对照参考成品，留下自己的成果。</a:t>
            </a:r>
          </a:p>
        </p:txBody>
      </p:sp>
      <p:sp>
        <p:nvSpPr>
          <p:cNvPr id="16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EAC6B2B0-679F-4185-BF59-34965C6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7828"/>
            <a:ext cx="4524375" cy="131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成长路线与教学数据属于平台建议或模拟材料，不描述为校友曾经使用的方法。</a:t>
            </a:r>
          </a:p>
        </p:txBody>
      </p:sp>
    </p:spTree>
    <p:extLst>
      <p:ext uri="{BB962C8B-B14F-4D97-AF65-F5344CB8AC3E}">
        <p14:creationId xmlns:p14="http://schemas.microsoft.com/office/powerpoint/2010/main" val="580478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8FF95-A258-4394-8D03-AF2E7D9E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D7AD1-626D-4B34-96BE-27D5C83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实践材料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84BDD-F725-41CC-AF07-995C576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实践案例：新生校园指南网页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A50F4-808F-4D9D-AC3E-99240A4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教学目标：把8条模拟问答组织成可搜索、可筛选的网页。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D3139-0789-4BB9-9E9D-302378F2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F9EF1-2CB6-4CB0-B338-CD7B304D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5799-FC30-463B-84FA-655CB81F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开始练习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E3F91-02D0-499F-89A8-E46276FF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下载materials/campus-guide.zip，解压后对照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7BD78-3B91-48D5-8291-0BF48A0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starter起始文件与reference参考成品。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376B3-0119-4D83-B82D-A068F5FB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完成过程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307FC-5BAE-4F54-B9C8-BAF7D40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修改内容，理解HTML、CSS和JavaScript的职责；加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04EA2-8348-47E9-9957-CCA540A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入分类与关键词筛选，再检查结果。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9539A-5AC9-4B94-AB1D-FD7E3CE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验收方式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7D888-1D06-43EC-A99B-6541227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示例搜“借阅”得到1条；搜“火星”得到0条；清空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9CA8-4E7A-4E5E-86C4-A1F853CA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并选择全部得到8条。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E140B-B7DE-4453-8F73-1E56967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953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记录成果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4108F-6881-4689-BBB0-37DA61C7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写清启动方法、已实现功能、测试和自己的改动。校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F8C80-85D4-4ACD-BD17-523780E4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767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园问答为教学模拟，不用于实际办事。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F69C3-FBDB-40B1-B306-B2446EA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1215150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23D87-6AE1-409B-89F8-93346592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CDC25-23B9-4832-A8D1-1A8CB884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实践材料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F11E0-F985-4ADC-AFFC-7E13520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实践案例：统计与HTTP排障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99B78-22FB-499C-84D5-1935DCA2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两个案例均使用Python标准库，数据与练习环境来自随包材料。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5B360-663D-43D3-87F2-99F518A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7AB35-3228-421C-9535-7ABE444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652CA-D4B9-4B0A-AF89-ED992017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学习时间统计工具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9DD77-2DBB-42C3-A3A3-0A23D99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0863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读取7条虚构CSV记录，用循环与字典按科目累计。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E261F-9D69-4D10-9D5B-45823D9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0" cy="580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285分钟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DA8D2-12A6-45AF-8F8D-3EEA373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Python 105 · 网页 90 · 数学 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A9C5A-8909-493C-9BC0-0DB956D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改动一条记录后预测结果，再运行核对。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2CF53-A370-4E58-B130-D6B69F13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5238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本地网站运行与排障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54BCA-2852-4BB9-B047-446D1B6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0863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启动回环地址上的服务，观察首页成功请求与不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ADC16-3A2A-4EBD-9D1E-BD5EF5E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50863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存在页面的404。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B9CCF-3055-4023-8C53-135DAF3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4953000" cy="580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200 / 404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D90C0-6E53-4FB2-A2F1-8391BB7B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记录请求路径、原因、修复与验证。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BDBBC-3465-40FB-AAF6-2C66F5E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00575"/>
            <a:ext cx="51816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停止服务后，比较连接失败与404的区别。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9D606-F19A-4ADC-A3B7-35D1E4F9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统计时长不等于学习质量；排障案例只监听本机，不需要购买或开放服务器。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044BC-EA0D-4788-8C76-668DE55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1373770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0B91E-D0FB-48F8-9FB3-F6C7D5A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E5593-8C3F-41AD-A2DC-0BBB21D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学习支持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95434-1211-432C-9A67-F8544C7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方法卡与学习复盘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C5AB3-6025-4426-A302-9782170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6张方法卡配合路线与实践使用，不替代个人的学习判断。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22930-9E6C-444F-AA4B-29E1220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8AADA-A1A6-437D-9F25-946A85B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B0471-7758-447F-B7D5-ADFA2104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任务安排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2BCA3-828E-4212-9D64-E9EEC424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90725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把目标拆成一周任务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21809-018A-4DDE-8A35-691C7BA7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90725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给任务写明完成条件，保留检查时间。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D226F-E3A8-431B-B4C1-591F181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排障求助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AEE4D-8737-4EC6-8577-147D11B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读懂报错，再把问题问清楚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FA3DF-F2BC-4F16-AA91-873F40B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记录期望、实际结果和已尝试的方法。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FE7E8-6034-42CB-97C6-1AB73A0C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信息核对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3E0D4-D70D-413B-BACE-6FAF1630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28975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核对官方信息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FD96D-6AB9-4205-91B6-F901D3EA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28975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记录适用年份与具体通知，未知项待核实。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14A5D-29E6-421F-AF63-2EE37934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成果表达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14120-B5DB-4E3B-B559-8F04D4D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写清项目做了什么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46BA2-9F7D-4530-8FFA-68F04CBF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说明运行方法、个人改动和测试结果。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71EDC-3E1E-4F23-A402-3E4F177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887F6-0076-47D3-9CD9-E3DDED8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67225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准备两分钟作品演示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85AAE-0CD7-45D5-ACD3-842CF8D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67225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先展示核心操作，再解释关键选择。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7EF1E-56F6-4823-90B9-48733DE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524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持续调整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86201-B550-4221-942C-138D93BB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86350"/>
            <a:ext cx="40195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每周复盘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59325-5382-419B-8528-50C9CB1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487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用本周结果调整下一周任务。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AC292-6B37-4EC6-98AF-E87F69A7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16822392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7-rect-0">
            <a:extLst xmlns:a="http://schemas.openxmlformats.org/drawingml/2006/main">
              <a:ext uri="{FF2B5EF4-FFF2-40B4-BE49-F238E27FC236}">
                <a16:creationId xmlns:a16="http://schemas.microsoft.com/office/drawing/2014/main" id="{341739D7-2AD7-492A-B001-41601EF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7-rect-1">
            <a:extLst xmlns:a="http://schemas.openxmlformats.org/drawingml/2006/main">
              <a:ext uri="{FF2B5EF4-FFF2-40B4-BE49-F238E27FC236}">
                <a16:creationId xmlns:a16="http://schemas.microsoft.com/office/drawing/2014/main" id="{A232746F-2E92-482B-93DB-1CB14E77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65CFFCB6-734B-4C9D-9D1E-ABE0C0C1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255282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AI升学规划</a:t>
            </a:r>
          </a:p>
        </p:txBody>
      </p:sp>
      <p:sp>
        <p:nvSpPr>
          <p:cNvPr id="4" name="slide-7-text-3">
            <a:extLst xmlns:a="http://schemas.openxmlformats.org/drawingml/2006/main">
              <a:ext uri="{FF2B5EF4-FFF2-40B4-BE49-F238E27FC236}">
                <a16:creationId xmlns:a16="http://schemas.microsoft.com/office/drawing/2014/main" id="{0621B7C8-B764-4239-81CA-D173E7CA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634365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先找资料，再设计行动，保存前可核对</a:t>
            </a:r>
          </a:p>
        </p:txBody>
      </p:sp>
      <p:sp>
        <p:nvSpPr>
          <p:cNvPr id="5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0E70E0B9-D43A-4B72-8AF2-F2F6D8F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4306"/>
            <a:ext cx="6735235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本次演示真实调用一次：本科大四、计算机专业，目标山东大学；检索至预览约30秒。</a:t>
            </a:r>
          </a:p>
        </p:txBody>
      </p:sp>
      <p:sp>
        <p:nvSpPr>
          <p:cNvPr id="6" name="slide-7-line-5">
            <a:extLst xmlns:a="http://schemas.openxmlformats.org/drawingml/2006/main">
              <a:ext uri="{FF2B5EF4-FFF2-40B4-BE49-F238E27FC236}">
                <a16:creationId xmlns:a16="http://schemas.microsoft.com/office/drawing/2014/main" id="{E1F1CBB5-1A29-4F32-BA71-A0A59A3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7" name="slide-7-text-6">
            <a:extLst xmlns:a="http://schemas.openxmlformats.org/drawingml/2006/main">
              <a:ext uri="{FF2B5EF4-FFF2-40B4-BE49-F238E27FC236}">
                <a16:creationId xmlns:a16="http://schemas.microsoft.com/office/drawing/2014/main" id="{B47AC826-A151-487A-8CBF-2BC7BD06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8" name="slide-7-text-7">
            <a:extLst xmlns:a="http://schemas.openxmlformats.org/drawingml/2006/main">
              <a:ext uri="{FF2B5EF4-FFF2-40B4-BE49-F238E27FC236}">
                <a16:creationId xmlns:a16="http://schemas.microsoft.com/office/drawing/2014/main" id="{8F23B835-3307-4B22-92E8-4A04CF7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15 / 24</a:t>
            </a:r>
          </a:p>
        </p:txBody>
      </p:sp>
      <p:sp>
        <p:nvSpPr>
          <p:cNvPr id="9" name="slide-7-roundRect-8">
            <a:extLst xmlns:a="http://schemas.openxmlformats.org/drawingml/2006/main">
              <a:ext uri="{FF2B5EF4-FFF2-40B4-BE49-F238E27FC236}">
                <a16:creationId xmlns:a16="http://schemas.microsoft.com/office/drawing/2014/main" id="{46ED18C6-A0D3-402D-8136-BF9E7557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95432-2DF0-4BD5-BE1D-6AADA45E3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70f31b0734cb9"/>
          <a:stretch xmlns:a="http://schemas.openxmlformats.org/drawingml/2006/main"/>
        </p:blipFill>
        <p:spPr>
          <a:xfrm xmlns:a="http://schemas.openxmlformats.org/drawingml/2006/main">
            <a:off x="612775" y="1800225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1" name="slide-7-roundRect-10">
            <a:extLst xmlns:a="http://schemas.openxmlformats.org/drawingml/2006/main">
              <a:ext uri="{FF2B5EF4-FFF2-40B4-BE49-F238E27FC236}">
                <a16:creationId xmlns:a16="http://schemas.microsoft.com/office/drawing/2014/main" id="{945B625D-38B6-4177-AB34-3E5EC22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314950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B959D-08C9-4C0D-A006-A97E8EE313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1ce629f548e5"/>
          <a:stretch xmlns:a="http://schemas.openxmlformats.org/drawingml/2006/main"/>
        </p:blipFill>
        <p:spPr>
          <a:xfrm xmlns:a="http://schemas.openxmlformats.org/drawingml/2006/main">
            <a:off x="6346825" y="1800225"/>
            <a:ext cx="5232400" cy="2943225"/>
          </a:xfrm>
          <a:prstGeom xmlns:a="http://schemas.openxmlformats.org/drawingml/2006/main" prst="rect">
            <a:avLst/>
          </a:prstGeom>
        </p:spPr>
      </p:pic>
      <p:sp>
        <p:nvSpPr>
          <p:cNvPr id="13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F036DCF3-C250-40AB-905D-A302A97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4756"/>
            <a:ext cx="542659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填写 → 官方资料检索 → 生成四阶段16项任务 → 预览 → 确认保存。</a:t>
            </a:r>
          </a:p>
        </p:txBody>
      </p:sp>
      <p:sp>
        <p:nvSpPr>
          <p:cNvPr id="14" name="slide-7-text-13">
            <a:extLst xmlns:a="http://schemas.openxmlformats.org/drawingml/2006/main">
              <a:ext uri="{FF2B5EF4-FFF2-40B4-BE49-F238E27FC236}">
                <a16:creationId xmlns:a16="http://schemas.microsoft.com/office/drawing/2014/main" id="{3BF59731-ABD0-484D-8210-DCB5BB8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4756"/>
            <a:ext cx="5333581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支持取消、超时和失败反馈。未来日期未公布时标记暂定，AI摘要需</a:t>
            </a:r>
          </a:p>
        </p:txBody>
      </p:sp>
      <p:sp>
        <p:nvSpPr>
          <p:cNvPr id="15" name="slide-7-text-14">
            <a:extLst xmlns:a="http://schemas.openxmlformats.org/drawingml/2006/main">
              <a:ext uri="{FF2B5EF4-FFF2-40B4-BE49-F238E27FC236}">
                <a16:creationId xmlns:a16="http://schemas.microsoft.com/office/drawing/2014/main" id="{F22E1B76-339B-4E09-959E-DCED054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69076"/>
            <a:ext cx="104775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人工核实。</a:t>
            </a:r>
          </a:p>
        </p:txBody>
      </p:sp>
      <p:sp>
        <p:nvSpPr>
          <p:cNvPr id="16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41FCF6CB-C5A2-4F1C-B9B3-4E2C205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8303"/>
            <a:ext cx="4545778" cy="131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截图来自本次生成，不使用模拟结果替代；30秒是本次观察值，不作速度承诺。</a:t>
            </a:r>
          </a:p>
        </p:txBody>
      </p:sp>
    </p:spTree>
    <p:extLst>
      <p:ext uri="{BB962C8B-B14F-4D97-AF65-F5344CB8AC3E}">
        <p14:creationId xmlns:p14="http://schemas.microsoft.com/office/powerpoint/2010/main" val="1011670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13DDF-71D5-44BE-ABFF-152ECE7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EF738-E65D-42E7-BD42-B2A774B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AI升学规划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9AAEB-CC01-42C3-A1C1-B86D815A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AI资料检索与来源查看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0082E-7D99-4AAB-AF09-7E2AF16A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09771-715F-4E81-8FC9-459AE5F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D68D2-9E3C-4C30-ADBE-A705D1B97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c910611f846f8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D388E-474E-4170-9549-35BA6D8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先检索资料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E2789-7BE9-4A76-9393-A843160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填写学历、年级、专业、学习基础、目标地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EEE3-8D0C-4E2D-B030-5FAF2DC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区及选填院校。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DFDB0-64F0-4BDA-B5EE-AA73647A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核对具体来源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73C72-3A8F-469A-A4E7-C64FDF5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查看官方资料及链接，确认目标、年份和学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0D422-5FEC-4DAA-BDA1-6CBAEDC8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校匹配。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A0279-BC0F-4D8A-ADBB-A7CD40F0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本次真实演示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574C9-0457-4B22-976E-DFABE68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虚构本科大四学习情况，目标山东大学计算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D1858-BB45-4087-8214-2F61A75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机相关专业。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7104D-D708-49F6-8E2D-18ABEDA4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本次只调用一次生成会话；页面检索至预览约30秒，观察值不作速度承诺。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F5D22-8DE4-4D48-A1E7-6618954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8087763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B27B3-5255-4DD5-B76F-A22290C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8F0E8-C976-4750-B798-B14908E4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AI升学规划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F8729-A4E6-4393-AC6C-6E39571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AI校验、取消与保存流程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29EED-56A7-43C8-B09F-8F7BF4CF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生成内容需要通过结构与来源校验，再交给用户预览。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1A908-F0BC-4B27-8671-6B52DB1D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7B3C5-A4EA-4CE0-BA60-F1915E2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52D45-8C08-4719-A6B6-15C0E6CB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5240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5A5BD-7145-428E-B8D3-83240CB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47875"/>
            <a:ext cx="8763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保留实际检索得到的官方来源，生成结果中的引用需匹配这些资料。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C749D-A330-4BA8-BDE8-67729DA4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5240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0BDCC-B997-413D-B0CE-3EF52A4A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8763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检查阶段、任务与日期；未公布的考试日期标记暂定，不冒充官方日期。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B41DF-C00E-4E83-9BAC-DA1631A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5240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04969-3C3B-4635-BE79-583A64B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33825"/>
            <a:ext cx="8763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展示方案、任务和出处；生成失败、超时或取消会给出反馈。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6A8F3-0D73-45F2-97E7-A95819E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5240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5A06E-1FEE-46FC-BF83-18D0851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8763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由用户确认后创建成长计划；保存前核对AI摘要及对应年度原文。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D1C8F-73B9-42B3-B26B-D02B307C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4374830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368C9-5475-4E8A-8492-EDB46DC2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6EC0B-0855-427B-BE33-AE3FA6BB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我的成长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9CD2B-DE40-42CC-91DB-2CB9CFD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计划编辑与完成进度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87DDE-DA6B-4C6B-B032-BDA7022C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EFA24-D667-44EA-B35D-CE1A58F7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03EF0-4400-407B-8200-5F0827281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c98ac3e3542f6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23BEC-4B5C-4206-B953-8C359B99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调整计划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357D7-BF14-4AEC-9124-F873A2F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编辑计划名称与目标，让模板或AI方案适合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B6422-DE43-4C23-952D-E8008BED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自己的安排。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EE881-D346-4B58-987A-D1E084A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F0E6C-03DE-4848-8199-41237B18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任务可编辑，完成操作更新进度，便于查看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9551E-5DAE-4D4A-BD3A-3E5108C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当前状态。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9C60E-261F-4364-8F6B-3B46F957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刷新保存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1DFDD-5C48-44F9-BE90-2D47822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计划与收藏保存在localStorage，刷新后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88400-7714-4FC0-B251-E9FA1377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读取已有记录。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C3440-46A2-411B-B993-ADA4E2D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本地记录属于当前浏览器环境；长期保存或迁移前，请导出备份。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F021B-F342-4FCC-BB60-ABF1BE2A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5363614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F3E7-571F-4264-994E-3B139384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B32C-1203-4AEF-AEBF-B980318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我的成长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90DE0-99A4-49FD-BDBC-AAFDCBF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JSON备份与恢复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CDC48-7BE2-4461-9DAA-AB98874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5B7C8-9E9A-4687-B600-4BB8673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352A7-A3A8-4A3F-8CCF-0BCC817C0F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b7ef23a846c5"/>
          <a:stretch xmlns:a="http://schemas.openxmlformats.org/drawingml/2006/main"/>
        </p:blipFill>
        <p:spPr>
          <a:xfrm xmlns:a="http://schemas.openxmlformats.org/drawingml/2006/main">
            <a:off x="5067300" y="1887141"/>
            <a:ext cx="6515100" cy="36647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89C31-0FBF-4971-80C7-0340D37D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导出当前记录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A9ECF-CB14-431E-9F1A-4A65761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把收藏与计划保存成JSON，便于迁移或保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97489-A1FD-4E7F-A3E8-4EDD9887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留阶段版本。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59240-991E-42B2-A937-5EEDC27C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校验后确认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37E24-7E5B-49AD-A657-32EB73A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选择备份文件，先检查格式，再确认是否替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747C6-D087-43E6-A39F-20CDDA22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换现有数据。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509D0-E8F1-4B1F-8928-327149D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019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保护现有数据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D9302-F1F3-49BB-AE7D-51F46BA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无效文件和取消导入不会替换已有记录；有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5276F-8A0A-48A3-AFB9-2EB1508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2481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效导入后可刷新核对。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853BD-7495-49E4-8C77-A0269C8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不同浏览器、file地址、域名及端口的存储相互独立，切换前先导出。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9478B-3E8E-4289-AE11-F80F4648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9170461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1761D-9CC5-450B-A38F-A0C11857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FAF40-D99D-45F1-A87B-271C9BBD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响应式体验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356A9-F824-4584-93C4-5873251E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桌面与手机布局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93D28-4346-45A0-9F9C-5D1C244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原生页面保留相对资源路径，适配不同宽度的阅读与操作。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7A4D7-918F-46D4-960A-6CBEFDA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92F37-50C1-41A6-911A-1FD7EBA3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FA3B9-C7C1-4B6C-AC46-0BDD0DE4C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6c5fe7e8f43e9"/>
          <a:stretch xmlns:a="http://schemas.openxmlformats.org/drawingml/2006/main"/>
        </p:blipFill>
        <p:spPr>
          <a:xfrm xmlns:a="http://schemas.openxmlformats.org/drawingml/2006/main">
            <a:off x="6191250" y="1863969"/>
            <a:ext cx="2057400" cy="4273062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77D30-7572-46B5-96AB-3A1E416EE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4490524304af8"/>
          <a:stretch xmlns:a="http://schemas.openxmlformats.org/drawingml/2006/main"/>
        </p:blipFill>
        <p:spPr>
          <a:xfrm xmlns:a="http://schemas.openxmlformats.org/drawingml/2006/main">
            <a:off x="8991600" y="1863969"/>
            <a:ext cx="2057400" cy="427306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37F0A-AE92-402D-9F85-14409C3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61962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桌面查看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9A965-53EC-4E87-8E14-02ECEEB2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48482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1440px宽度展示内容与导航，便于阅读校史、校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5432-2EF4-460F-B105-93958CD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8482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友与实践说明。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0C459-6A6C-467B-9B38-4EBBA79F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619625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手机操作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507D4-2D71-4F8D-921B-ABAED2F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8482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390px宽度调整页面排列，保留搜索、计划与任务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CF3FD-5695-4DF7-B330-28A3932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48482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等操作入口。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5C135-B149-4D9A-996B-DF8F2DF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2464430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4-rect-0">
            <a:extLst xmlns:a="http://schemas.openxmlformats.org/drawingml/2006/main">
              <a:ext uri="{FF2B5EF4-FFF2-40B4-BE49-F238E27FC236}">
                <a16:creationId xmlns:a16="http://schemas.microsoft.com/office/drawing/2014/main" id="{37078DB5-2B23-4E6F-9909-625B8A8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4-rect-1">
            <a:extLst xmlns:a="http://schemas.openxmlformats.org/drawingml/2006/main">
              <a:ext uri="{FF2B5EF4-FFF2-40B4-BE49-F238E27FC236}">
                <a16:creationId xmlns:a16="http://schemas.microsoft.com/office/drawing/2014/main" id="{683EB304-216C-4B9F-83CA-4497FEE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text-2">
            <a:extLst xmlns:a="http://schemas.openxmlformats.org/drawingml/2006/main">
              <a:ext uri="{FF2B5EF4-FFF2-40B4-BE49-F238E27FC236}">
                <a16:creationId xmlns:a16="http://schemas.microsoft.com/office/drawing/2014/main" id="{6442869D-142B-4F9E-A091-B814B48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11027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4" name="slide-4-text-3">
            <a:extLst xmlns:a="http://schemas.openxmlformats.org/drawingml/2006/main">
              <a:ext uri="{FF2B5EF4-FFF2-40B4-BE49-F238E27FC236}">
                <a16:creationId xmlns:a16="http://schemas.microsoft.com/office/drawing/2014/main" id="{F9C030ED-1047-44FA-B53E-272F3057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453390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轻量运行，清楚的数据边界</a:t>
            </a:r>
          </a:p>
        </p:txBody>
      </p:sp>
      <p:sp>
        <p:nvSpPr>
          <p:cNvPr id="5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CF691712-F9CD-4559-998C-317210A1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4306"/>
            <a:ext cx="5847931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无构建步骤、无后端账号系统；升学AI是现有功能中唯一的运行网络请求。</a:t>
            </a:r>
          </a:p>
        </p:txBody>
      </p:sp>
      <p:sp>
        <p:nvSpPr>
          <p:cNvPr id="6" name="slide-4-line-5">
            <a:extLst xmlns:a="http://schemas.openxmlformats.org/drawingml/2006/main">
              <a:ext uri="{FF2B5EF4-FFF2-40B4-BE49-F238E27FC236}">
                <a16:creationId xmlns:a16="http://schemas.microsoft.com/office/drawing/2014/main" id="{EA5F869A-4548-4112-BA38-BC866203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7" name="slide-4-text-6">
            <a:extLst xmlns:a="http://schemas.openxmlformats.org/drawingml/2006/main">
              <a:ext uri="{FF2B5EF4-FFF2-40B4-BE49-F238E27FC236}">
                <a16:creationId xmlns:a16="http://schemas.microsoft.com/office/drawing/2014/main" id="{B473CD0F-0575-4BC6-96A3-A6B32103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8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E38FDA34-F3F5-4C15-8E0F-F3F5B46E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21 / 24</a:t>
            </a:r>
          </a:p>
        </p:txBody>
      </p:sp>
      <p:sp>
        <p:nvSpPr>
          <p:cNvPr id="9" name="slide-4-roundRect-8">
            <a:extLst xmlns:a="http://schemas.openxmlformats.org/drawingml/2006/main">
              <a:ext uri="{FF2B5EF4-FFF2-40B4-BE49-F238E27FC236}">
                <a16:creationId xmlns:a16="http://schemas.microsoft.com/office/drawing/2014/main" id="{9654D0AD-8CE6-41F3-8958-766C1F64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3528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10" name="slide-4-text-9">
            <a:extLst xmlns:a="http://schemas.openxmlformats.org/drawingml/2006/main">
              <a:ext uri="{FF2B5EF4-FFF2-40B4-BE49-F238E27FC236}">
                <a16:creationId xmlns:a16="http://schemas.microsoft.com/office/drawing/2014/main" id="{F7C3D495-EFAE-4A0F-AF90-B78C825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98609"/>
            <a:ext cx="1285875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浏览器界面</a:t>
            </a:r>
          </a:p>
        </p:txBody>
      </p:sp>
      <p:sp>
        <p:nvSpPr>
          <p:cNvPr id="11" name="slide-4-text-10">
            <a:extLst xmlns:a="http://schemas.openxmlformats.org/drawingml/2006/main">
              <a:ext uri="{FF2B5EF4-FFF2-40B4-BE49-F238E27FC236}">
                <a16:creationId xmlns:a16="http://schemas.microsoft.com/office/drawing/2014/main" id="{1F857242-ADCB-4010-BE1D-0C57A79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7806"/>
            <a:ext cx="2130865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index.html · CSS · app.js</a:t>
            </a:r>
          </a:p>
        </p:txBody>
      </p:sp>
      <p:sp>
        <p:nvSpPr>
          <p:cNvPr id="12" name="slide-4-text-11">
            <a:extLst xmlns:a="http://schemas.openxmlformats.org/drawingml/2006/main">
              <a:ext uri="{FF2B5EF4-FFF2-40B4-BE49-F238E27FC236}">
                <a16:creationId xmlns:a16="http://schemas.microsoft.com/office/drawing/2014/main" id="{8ABDA33F-1B93-4E6F-AC1B-B3DB1D5D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2126"/>
            <a:ext cx="19744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Hash路由、渲染与交互</a:t>
            </a:r>
          </a:p>
        </p:txBody>
      </p:sp>
      <p:sp>
        <p:nvSpPr>
          <p:cNvPr id="13" name="slide-4-roundRect-12">
            <a:extLst xmlns:a="http://schemas.openxmlformats.org/drawingml/2006/main">
              <a:ext uri="{FF2B5EF4-FFF2-40B4-BE49-F238E27FC236}">
                <a16:creationId xmlns:a16="http://schemas.microsoft.com/office/drawing/2014/main" id="{1D3FCF74-6C77-43FC-95E3-CAE2C53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05025"/>
            <a:ext cx="33528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14" name="slide-4-text-13">
            <a:extLst xmlns:a="http://schemas.openxmlformats.org/drawingml/2006/main">
              <a:ext uri="{FF2B5EF4-FFF2-40B4-BE49-F238E27FC236}">
                <a16:creationId xmlns:a16="http://schemas.microsoft.com/office/drawing/2014/main" id="{F4ABCEFF-474D-4D4D-B4CA-1B2F5444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8609"/>
            <a:ext cx="1724025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本地内容与记录</a:t>
            </a:r>
          </a:p>
        </p:txBody>
      </p:sp>
      <p:sp>
        <p:nvSpPr>
          <p:cNvPr id="15" name="slide-4-text-14">
            <a:extLst xmlns:a="http://schemas.openxmlformats.org/drawingml/2006/main">
              <a:ext uri="{FF2B5EF4-FFF2-40B4-BE49-F238E27FC236}">
                <a16:creationId xmlns:a16="http://schemas.microsoft.com/office/drawing/2014/main" id="{BBC8B444-E69C-4713-9C9F-C9BCC672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7806"/>
            <a:ext cx="1730871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data.js / learning.js</a:t>
            </a:r>
          </a:p>
        </p:txBody>
      </p:sp>
      <p:sp>
        <p:nvSpPr>
          <p:cNvPr id="16" name="slide-4-text-15">
            <a:extLst xmlns:a="http://schemas.openxmlformats.org/drawingml/2006/main">
              <a:ext uri="{FF2B5EF4-FFF2-40B4-BE49-F238E27FC236}">
                <a16:creationId xmlns:a16="http://schemas.microsoft.com/office/drawing/2014/main" id="{F92C77A1-A579-40BA-A1CC-0059CEE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2126"/>
            <a:ext cx="2924994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官方资料、建议模板、localStorage</a:t>
            </a:r>
          </a:p>
        </p:txBody>
      </p:sp>
      <p:sp>
        <p:nvSpPr>
          <p:cNvPr id="17" name="slide-4-roundRect-16">
            <a:extLst xmlns:a="http://schemas.openxmlformats.org/drawingml/2006/main">
              <a:ext uri="{FF2B5EF4-FFF2-40B4-BE49-F238E27FC236}">
                <a16:creationId xmlns:a16="http://schemas.microsoft.com/office/drawing/2014/main" id="{C7F4C1DA-91E2-4A0E-8798-D28DB535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05025"/>
            <a:ext cx="33528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18" name="slide-4-text-17">
            <a:extLst xmlns:a="http://schemas.openxmlformats.org/drawingml/2006/main">
              <a:ext uri="{FF2B5EF4-FFF2-40B4-BE49-F238E27FC236}">
                <a16:creationId xmlns:a16="http://schemas.microsoft.com/office/drawing/2014/main" id="{9C9C4DFB-FE7D-4666-AC8A-F2A3AD44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8609"/>
            <a:ext cx="150495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在线升学规划</a:t>
            </a:r>
          </a:p>
        </p:txBody>
      </p:sp>
      <p:sp>
        <p:nvSpPr>
          <p:cNvPr id="19" name="slide-4-text-18">
            <a:extLst xmlns:a="http://schemas.openxmlformats.org/drawingml/2006/main">
              <a:ext uri="{FF2B5EF4-FFF2-40B4-BE49-F238E27FC236}">
                <a16:creationId xmlns:a16="http://schemas.microsoft.com/office/drawing/2014/main" id="{F9D5316A-C28A-41FC-BF4D-C6A0EEC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7806"/>
            <a:ext cx="1591735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ai.js → DeepSeek</a:t>
            </a:r>
          </a:p>
        </p:txBody>
      </p:sp>
      <p:sp>
        <p:nvSpPr>
          <p:cNvPr id="20" name="slide-4-text-19">
            <a:extLst xmlns:a="http://schemas.openxmlformats.org/drawingml/2006/main">
              <a:ext uri="{FF2B5EF4-FFF2-40B4-BE49-F238E27FC236}">
                <a16:creationId xmlns:a16="http://schemas.microsoft.com/office/drawing/2014/main" id="{E7475582-BDB8-40CE-8B5B-E8D228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2126"/>
            <a:ext cx="2590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官方资料检索、计划生成与校验</a:t>
            </a:r>
          </a:p>
        </p:txBody>
      </p:sp>
      <p:sp>
        <p:nvSpPr>
          <p:cNvPr id="21" name="slide-4-text-20">
            <a:extLst xmlns:a="http://schemas.openxmlformats.org/drawingml/2006/main">
              <a:ext uri="{FF2B5EF4-FFF2-40B4-BE49-F238E27FC236}">
                <a16:creationId xmlns:a16="http://schemas.microsoft.com/office/drawing/2014/main" id="{2489400C-2513-4A3F-8612-5F40D52F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64761"/>
            <a:ext cx="457200" cy="2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slide-4-text-21">
            <a:extLst xmlns:a="http://schemas.openxmlformats.org/drawingml/2006/main">
              <a:ext uri="{FF2B5EF4-FFF2-40B4-BE49-F238E27FC236}">
                <a16:creationId xmlns:a16="http://schemas.microsoft.com/office/drawing/2014/main" id="{D9A08FB2-5E64-4064-B811-C8A06D77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64761"/>
            <a:ext cx="457200" cy="2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slide-4-roundRect-22">
            <a:extLst xmlns:a="http://schemas.openxmlformats.org/drawingml/2006/main">
              <a:ext uri="{FF2B5EF4-FFF2-40B4-BE49-F238E27FC236}">
                <a16:creationId xmlns:a16="http://schemas.microsoft.com/office/drawing/2014/main" id="{5A4CBB3A-4A3B-48CD-B6F0-6B68E61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24" name="slide-4-text-23">
            <a:extLst xmlns:a="http://schemas.openxmlformats.org/drawingml/2006/main">
              <a:ext uri="{FF2B5EF4-FFF2-40B4-BE49-F238E27FC236}">
                <a16:creationId xmlns:a16="http://schemas.microsoft.com/office/drawing/2014/main" id="{F47D1B95-0626-4854-A264-89F34ADC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5034"/>
            <a:ext cx="19431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经典脚本加载顺序</a:t>
            </a:r>
          </a:p>
        </p:txBody>
      </p:sp>
      <p:sp>
        <p:nvSpPr>
          <p:cNvPr id="25" name="slide-4-text-24">
            <a:extLst xmlns:a="http://schemas.openxmlformats.org/drawingml/2006/main">
              <a:ext uri="{FF2B5EF4-FFF2-40B4-BE49-F238E27FC236}">
                <a16:creationId xmlns:a16="http://schemas.microsoft.com/office/drawing/2014/main" id="{FEC48D86-7005-4363-BAAD-48D24A1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4231"/>
            <a:ext cx="439136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data → learning → storage → ai-config → ai → app</a:t>
            </a:r>
          </a:p>
        </p:txBody>
      </p:sp>
      <p:sp>
        <p:nvSpPr>
          <p:cNvPr id="26" name="slide-4-text-25">
            <a:extLst xmlns:a="http://schemas.openxmlformats.org/drawingml/2006/main">
              <a:ext uri="{FF2B5EF4-FFF2-40B4-BE49-F238E27FC236}">
                <a16:creationId xmlns:a16="http://schemas.microsoft.com/office/drawing/2014/main" id="{7958282B-CEF8-4E96-8BCB-6ACAB9C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8551"/>
            <a:ext cx="3854155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保持相对路径，直接打开HTML与HTTP均支持。</a:t>
            </a:r>
          </a:p>
        </p:txBody>
      </p:sp>
      <p:sp>
        <p:nvSpPr>
          <p:cNvPr id="27" name="slide-4-roundRect-26">
            <a:extLst xmlns:a="http://schemas.openxmlformats.org/drawingml/2006/main">
              <a:ext uri="{FF2B5EF4-FFF2-40B4-BE49-F238E27FC236}">
                <a16:creationId xmlns:a16="http://schemas.microsoft.com/office/drawing/2014/main" id="{064C0E2A-A743-4BC8-BB53-B2119126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52578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4D7C3"/>
            </a:solidFill>
            <a:prstDash val="solid"/>
          </a:ln>
        </p:spPr>
      </p:sp>
      <p:sp>
        <p:nvSpPr>
          <p:cNvPr id="28" name="slide-4-text-27">
            <a:extLst xmlns:a="http://schemas.openxmlformats.org/drawingml/2006/main">
              <a:ext uri="{FF2B5EF4-FFF2-40B4-BE49-F238E27FC236}">
                <a16:creationId xmlns:a16="http://schemas.microsoft.com/office/drawing/2014/main" id="{1B70424C-0C74-4783-95A3-F7FCD125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5034"/>
            <a:ext cx="1285875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保存与恢复</a:t>
            </a:r>
          </a:p>
        </p:txBody>
      </p:sp>
      <p:sp>
        <p:nvSpPr>
          <p:cNvPr id="29" name="slide-4-text-28">
            <a:extLst xmlns:a="http://schemas.openxmlformats.org/drawingml/2006/main">
              <a:ext uri="{FF2B5EF4-FFF2-40B4-BE49-F238E27FC236}">
                <a16:creationId xmlns:a16="http://schemas.microsoft.com/office/drawing/2014/main" id="{074833C3-E6F6-4E14-B43C-0B260AB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04231"/>
            <a:ext cx="4407936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只有确认保存才创建AI计划；JSON导入先校验再确认。</a:t>
            </a:r>
          </a:p>
        </p:txBody>
      </p:sp>
      <p:sp>
        <p:nvSpPr>
          <p:cNvPr id="30" name="slide-4-text-29">
            <a:extLst xmlns:a="http://schemas.openxmlformats.org/drawingml/2006/main">
              <a:ext uri="{FF2B5EF4-FFF2-40B4-BE49-F238E27FC236}">
                <a16:creationId xmlns:a16="http://schemas.microsoft.com/office/drawing/2014/main" id="{4CB3CB40-E10B-41FE-B1F8-15A896D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8551"/>
            <a:ext cx="32766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无效文件和取消导入不会替换已有记录。</a:t>
            </a:r>
          </a:p>
        </p:txBody>
      </p:sp>
      <p:sp>
        <p:nvSpPr>
          <p:cNvPr id="31" name="slide-4-text-30">
            <a:extLst xmlns:a="http://schemas.openxmlformats.org/drawingml/2006/main">
              <a:ext uri="{FF2B5EF4-FFF2-40B4-BE49-F238E27FC236}">
                <a16:creationId xmlns:a16="http://schemas.microsoft.com/office/drawing/2014/main" id="{76146B26-4E71-442E-B1D9-84BD1EB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4381"/>
            <a:ext cx="10972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本人使用码道完成核心开发，网站运行无需安装码道。</a:t>
            </a:r>
          </a:p>
        </p:txBody>
      </p:sp>
    </p:spTree>
    <p:extLst>
      <p:ext uri="{BB962C8B-B14F-4D97-AF65-F5344CB8AC3E}">
        <p14:creationId xmlns:p14="http://schemas.microsoft.com/office/powerpoint/2010/main" val="2202222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8-rect-0">
            <a:extLst xmlns:a="http://schemas.openxmlformats.org/drawingml/2006/main">
              <a:ext uri="{FF2B5EF4-FFF2-40B4-BE49-F238E27FC236}">
                <a16:creationId xmlns:a16="http://schemas.microsoft.com/office/drawing/2014/main" id="{6D974421-DB61-4456-B188-DA64B5A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8-rect-1">
            <a:extLst xmlns:a="http://schemas.openxmlformats.org/drawingml/2006/main">
              <a:ext uri="{FF2B5EF4-FFF2-40B4-BE49-F238E27FC236}">
                <a16:creationId xmlns:a16="http://schemas.microsoft.com/office/drawing/2014/main" id="{8C1CD082-4051-4C04-A6D5-8CC1110D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7685ABD5-FF01-49FA-BC2D-83AC0043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11027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核心亮点</a:t>
            </a:r>
          </a:p>
        </p:txBody>
      </p:sp>
      <p:sp>
        <p:nvSpPr>
          <p:cNvPr id="4" name="slide-8-text-3">
            <a:extLst xmlns:a="http://schemas.openxmlformats.org/drawingml/2006/main">
              <a:ext uri="{FF2B5EF4-FFF2-40B4-BE49-F238E27FC236}">
                <a16:creationId xmlns:a16="http://schemas.microsoft.com/office/drawing/2014/main" id="{AF200DD7-E5EE-4CB3-AE3B-B4B216D9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634365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把信息可信度与成长可操作性放在一起</a:t>
            </a:r>
          </a:p>
        </p:txBody>
      </p:sp>
      <p:sp>
        <p:nvSpPr>
          <p:cNvPr id="5" name="slide-8-line-4">
            <a:extLst xmlns:a="http://schemas.openxmlformats.org/drawingml/2006/main">
              <a:ext uri="{FF2B5EF4-FFF2-40B4-BE49-F238E27FC236}">
                <a16:creationId xmlns:a16="http://schemas.microsoft.com/office/drawing/2014/main" id="{BEFEB60D-7800-4FAB-BE57-8B86A91E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6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B55ACFA3-D373-4F51-A299-E630BFC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slide-8-text-6">
            <a:extLst xmlns:a="http://schemas.openxmlformats.org/drawingml/2006/main">
              <a:ext uri="{FF2B5EF4-FFF2-40B4-BE49-F238E27FC236}">
                <a16:creationId xmlns:a16="http://schemas.microsoft.com/office/drawing/2014/main" id="{2E390E32-8142-4C0A-B9C3-A223353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22 / 24</a:t>
            </a:r>
          </a:p>
        </p:txBody>
      </p:sp>
      <p:sp>
        <p:nvSpPr>
          <p:cNvPr id="8" name="slide-8-roundRect-7">
            <a:extLst xmlns:a="http://schemas.openxmlformats.org/drawingml/2006/main">
              <a:ext uri="{FF2B5EF4-FFF2-40B4-BE49-F238E27FC236}">
                <a16:creationId xmlns:a16="http://schemas.microsoft.com/office/drawing/2014/main" id="{C044282E-0AD0-4C55-9775-B7E0DAF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62125"/>
            <a:ext cx="5867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9DE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5E647-5C45-44A1-A0F3-E03701128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5beefe5244d66"/>
          <a:stretch xmlns:a="http://schemas.openxmlformats.org/drawingml/2006/main"/>
        </p:blipFill>
        <p:spPr>
          <a:xfrm xmlns:a="http://schemas.openxmlformats.org/drawingml/2006/main">
            <a:off x="5791200" y="1800225"/>
            <a:ext cx="5791200" cy="3257550"/>
          </a:xfrm>
          <a:prstGeom xmlns:a="http://schemas.openxmlformats.org/drawingml/2006/main" prst="rect">
            <a:avLst/>
          </a:prstGeom>
        </p:spPr>
      </p:pic>
      <p:sp>
        <p:nvSpPr>
          <p:cNvPr id="10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2D83F07B-463F-4E0A-8412-54FC81B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1799"/>
            <a:ext cx="13335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内容可追溯</a:t>
            </a:r>
          </a:p>
        </p:txBody>
      </p:sp>
      <p:sp>
        <p:nvSpPr>
          <p:cNvPr id="11" name="slide-8-text-10">
            <a:extLst xmlns:a="http://schemas.openxmlformats.org/drawingml/2006/main">
              <a:ext uri="{FF2B5EF4-FFF2-40B4-BE49-F238E27FC236}">
                <a16:creationId xmlns:a16="http://schemas.microsoft.com/office/drawing/2014/main" id="{B5D87F03-3094-43C1-AB83-B59A413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3846"/>
            <a:ext cx="3267075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人物与校史附来源，事实与建议分开。</a:t>
            </a:r>
          </a:p>
        </p:txBody>
      </p:sp>
      <p:sp>
        <p:nvSpPr>
          <p:cNvPr id="12" name="slide-8-text-11">
            <a:extLst xmlns:a="http://schemas.openxmlformats.org/drawingml/2006/main">
              <a:ext uri="{FF2B5EF4-FFF2-40B4-BE49-F238E27FC236}">
                <a16:creationId xmlns:a16="http://schemas.microsoft.com/office/drawing/2014/main" id="{DD405BF9-62B9-4A9D-826E-A724034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0499"/>
            <a:ext cx="13335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行动可编辑</a:t>
            </a:r>
          </a:p>
        </p:txBody>
      </p:sp>
      <p:sp>
        <p:nvSpPr>
          <p:cNvPr id="13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ACCB5DF2-33E7-4C5E-95FD-84D3C0D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2546"/>
            <a:ext cx="3085658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模板或AI方案都能变成自己的任务。</a:t>
            </a:r>
          </a:p>
        </p:txBody>
      </p:sp>
      <p:sp>
        <p:nvSpPr>
          <p:cNvPr id="14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3ABB991E-5FA3-44DE-B8B1-66BB328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9199"/>
            <a:ext cx="13335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记录可迁移</a:t>
            </a:r>
          </a:p>
        </p:txBody>
      </p:sp>
      <p:sp>
        <p:nvSpPr>
          <p:cNvPr id="15" name="slide-8-text-14">
            <a:extLst xmlns:a="http://schemas.openxmlformats.org/drawingml/2006/main">
              <a:ext uri="{FF2B5EF4-FFF2-40B4-BE49-F238E27FC236}">
                <a16:creationId xmlns:a16="http://schemas.microsoft.com/office/drawing/2014/main" id="{808C8E18-29AE-459A-8DF3-A0FB3CC4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1246"/>
            <a:ext cx="3375854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本机持久保存，JSON备份跨环境恢复。</a:t>
            </a:r>
          </a:p>
        </p:txBody>
      </p:sp>
      <p:sp>
        <p:nvSpPr>
          <p:cNvPr id="16" name="slide-8-text-15">
            <a:extLst xmlns:a="http://schemas.openxmlformats.org/drawingml/2006/main">
              <a:ext uri="{FF2B5EF4-FFF2-40B4-BE49-F238E27FC236}">
                <a16:creationId xmlns:a16="http://schemas.microsoft.com/office/drawing/2014/main" id="{4C9E242F-BBC5-4C17-957C-0A563CD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7899"/>
            <a:ext cx="1104900" cy="24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体验轻量</a:t>
            </a:r>
          </a:p>
        </p:txBody>
      </p:sp>
      <p:sp>
        <p:nvSpPr>
          <p:cNvPr id="17" name="slide-8-text-16">
            <a:extLst xmlns:a="http://schemas.openxmlformats.org/drawingml/2006/main">
              <a:ext uri="{FF2B5EF4-FFF2-40B4-BE49-F238E27FC236}">
                <a16:creationId xmlns:a16="http://schemas.microsoft.com/office/drawing/2014/main" id="{9A69E093-3779-44D7-912F-DF07949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9946"/>
            <a:ext cx="30861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桌面与手机布局，基础功能零依赖。</a:t>
            </a:r>
          </a:p>
        </p:txBody>
      </p:sp>
    </p:spTree>
    <p:extLst>
      <p:ext uri="{BB962C8B-B14F-4D97-AF65-F5344CB8AC3E}">
        <p14:creationId xmlns:p14="http://schemas.microsoft.com/office/powerpoint/2010/main" val="15447305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9-rect-0">
            <a:extLst xmlns:a="http://schemas.openxmlformats.org/drawingml/2006/main">
              <a:ext uri="{FF2B5EF4-FFF2-40B4-BE49-F238E27FC236}">
                <a16:creationId xmlns:a16="http://schemas.microsoft.com/office/drawing/2014/main" id="{CA61595D-1D84-456B-9E2F-4413461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9-rect-1">
            <a:extLst xmlns:a="http://schemas.openxmlformats.org/drawingml/2006/main">
              <a:ext uri="{FF2B5EF4-FFF2-40B4-BE49-F238E27FC236}">
                <a16:creationId xmlns:a16="http://schemas.microsoft.com/office/drawing/2014/main" id="{6882DCC0-606A-4FA1-BE9D-2B9C68A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FD4C3D98-6B91-435D-B861-8A15780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368"/>
            <a:ext cx="1510326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58A43"/>
                </a:solidFill>
                <a:latin typeface="Microsoft YaHei"/>
                <a:ea typeface="Microsoft YaHei"/>
                <a:cs typeface="Microsoft YaHei"/>
              </a:rPr>
              <a:t>华为云码道应用</a:t>
            </a:r>
          </a:p>
        </p:txBody>
      </p:sp>
      <p:sp>
        <p:nvSpPr>
          <p:cNvPr id="4" name="slide-9-text-3">
            <a:extLst xmlns:a="http://schemas.openxmlformats.org/drawingml/2006/main">
              <a:ext uri="{FF2B5EF4-FFF2-40B4-BE49-F238E27FC236}">
                <a16:creationId xmlns:a16="http://schemas.microsoft.com/office/drawing/2014/main" id="{D2FBF97E-8B9B-41E8-9014-F19326CA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8617"/>
            <a:ext cx="10972800" cy="38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码道完成核心开发与交付检查</a:t>
            </a:r>
          </a:p>
        </p:txBody>
      </p:sp>
      <p:sp>
        <p:nvSpPr>
          <p:cNvPr id="5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C8C6512F-1C6E-4F09-8A50-4C3B58C1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4306"/>
            <a:ext cx="10972800" cy="18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本人亲手使用华为云码道完成网站核心功能开发，并补充交付检查工具。</a:t>
            </a:r>
          </a:p>
        </p:txBody>
      </p:sp>
      <p:sp>
        <p:nvSpPr>
          <p:cNvPr id="6" name="slide-9-line-5">
            <a:extLst xmlns:a="http://schemas.openxmlformats.org/drawingml/2006/main">
              <a:ext uri="{FF2B5EF4-FFF2-40B4-BE49-F238E27FC236}">
                <a16:creationId xmlns:a16="http://schemas.microsoft.com/office/drawing/2014/main" id="{14D16C68-5EC6-46F3-B389-22D2683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4BF"/>
            </a:solidFill>
            <a:prstDash val="solid"/>
          </a:ln>
        </p:spPr>
      </p:sp>
      <p:sp>
        <p:nvSpPr>
          <p:cNvPr id="7" name="slide-9-text-6">
            <a:extLst xmlns:a="http://schemas.openxmlformats.org/drawingml/2006/main">
              <a:ext uri="{FF2B5EF4-FFF2-40B4-BE49-F238E27FC236}">
                <a16:creationId xmlns:a16="http://schemas.microsoft.com/office/drawing/2014/main" id="{C3A91C9C-043A-403E-A571-ACAFC1FD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8487"/>
            <a:ext cx="2308733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8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A8255A07-845C-4540-BB65-07B0999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8487"/>
            <a:ext cx="575090" cy="121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23 / 24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A9F8D-1AD2-4AF0-98D3-5C1378611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b475ef9554504"/>
          <a:stretch xmlns:a="http://schemas.openxmlformats.org/drawingml/2006/main"/>
        </p:blipFill>
        <p:spPr>
          <a:xfrm xmlns:a="http://schemas.openxmlformats.org/drawingml/2006/main">
            <a:off x="6324781" y="1943100"/>
            <a:ext cx="5257438" cy="3133725"/>
          </a:xfrm>
          <a:prstGeom xmlns:a="http://schemas.openxmlformats.org/drawingml/2006/main" prst="rect">
            <a:avLst/>
          </a:prstGeom>
        </p:spPr>
      </p:pic>
      <p:sp>
        <p:nvSpPr>
          <p:cNvPr id="10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265228EC-9278-4DB7-8B4E-33801B4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0484"/>
            <a:ext cx="5257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01  本人使用码道完成核心开发</a:t>
            </a:r>
          </a:p>
        </p:txBody>
      </p:sp>
      <p:sp>
        <p:nvSpPr>
          <p:cNvPr id="11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3F4D42A0-D4ED-4F43-9D0E-FE3AD2C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3846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网站核心功能由本人使用华为云码道完成开发，</a:t>
            </a:r>
          </a:p>
        </p:txBody>
      </p:sp>
      <p:sp>
        <p:nvSpPr>
          <p:cNvPr id="12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F45218B4-991A-4A66-8284-7D21011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406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核心模块与功能演示见前述页面。</a:t>
            </a:r>
          </a:p>
        </p:txBody>
      </p:sp>
      <p:sp>
        <p:nvSpPr>
          <p:cNvPr id="13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CB33DF2C-4606-470F-8412-99266BC4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1134"/>
            <a:ext cx="5257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02  交付阶段补充检查工具</a:t>
            </a:r>
          </a:p>
        </p:txBody>
      </p:sp>
      <p:sp>
        <p:nvSpPr>
          <p:cNvPr id="14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2260C352-44B5-4900-A7AF-064F85F3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4496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码道分析已有网站并生成、修订交付检查脚本，</a:t>
            </a:r>
          </a:p>
        </p:txBody>
      </p:sp>
      <p:sp>
        <p:nvSpPr>
          <p:cNvPr id="15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CDCCF015-F8E7-44DC-BCD6-02ECD22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056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保存真实运行结果、初版与修订差异。</a:t>
            </a:r>
          </a:p>
        </p:txBody>
      </p:sp>
      <p:sp>
        <p:nvSpPr>
          <p:cNvPr id="16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79DA5C3D-6A16-4C8C-968E-4692C510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2259"/>
            <a:ext cx="5257800" cy="23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1D29"/>
                </a:solidFill>
                <a:latin typeface="Microsoft YaHei"/>
                <a:ea typeface="Microsoft YaHei"/>
                <a:cs typeface="Microsoft YaHei"/>
              </a:rPr>
              <a:t>03  开发记录与交付证据</a:t>
            </a:r>
          </a:p>
        </p:txBody>
      </p:sp>
      <p:sp>
        <p:nvSpPr>
          <p:cNvPr id="17" name="slide-9-text-16">
            <a:extLst xmlns:a="http://schemas.openxmlformats.org/drawingml/2006/main">
              <a:ext uri="{FF2B5EF4-FFF2-40B4-BE49-F238E27FC236}">
                <a16:creationId xmlns:a16="http://schemas.microsoft.com/office/drawing/2014/main" id="{8035F0A0-FCD5-47E6-B4C5-870EC49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5621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现有截图记录交付阶段操作，原始对话、检查日志</a:t>
            </a:r>
          </a:p>
        </p:txBody>
      </p:sp>
      <p:sp>
        <p:nvSpPr>
          <p:cNvPr id="18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63E34AA4-560A-4617-838E-DDD9CC46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181"/>
            <a:ext cx="5257800" cy="19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和用量状态见 codearts_proof/。</a:t>
            </a:r>
          </a:p>
        </p:txBody>
      </p:sp>
      <p:sp>
        <p:nvSpPr>
          <p:cNvPr id="19" name="slide-9-text-18">
            <a:extLst xmlns:a="http://schemas.openxmlformats.org/drawingml/2006/main">
              <a:ext uri="{FF2B5EF4-FFF2-40B4-BE49-F238E27FC236}">
                <a16:creationId xmlns:a16="http://schemas.microsoft.com/office/drawing/2014/main" id="{A78F5E2B-6425-4C4A-B1D0-15E4B4C7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7643"/>
            <a:ext cx="5257800" cy="14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码道生成交付检查脚本界面  /  证据索引见 codearts_proof/</a:t>
            </a:r>
          </a:p>
        </p:txBody>
      </p:sp>
    </p:spTree>
    <p:extLst>
      <p:ext uri="{BB962C8B-B14F-4D97-AF65-F5344CB8AC3E}">
        <p14:creationId xmlns:p14="http://schemas.microsoft.com/office/powerpoint/2010/main" val="5849483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F3DDD-F3A8-49A8-8675-67649126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1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2F0FA-37F1-4528-AFB5-CE6D06C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4775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8473-4BB2-4DBD-8CA0-EBA601E2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已完成的运行与功能验证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FAAB7-EAAC-4ACD-851D-95461DD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记录来自本次V3验收；普通AI测试使用模拟响应。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92E30-7FF1-46C7-A87F-0309B03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2A036-0DA2-44F4-AD99-CE1D8E75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商职星途 · 九秩校庆  /  Amarantos  / 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414A7-B953-4EF8-9665-995A82B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2900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64组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F49CB-E80F-4F74-B599-587651A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238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页面与图片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4149E-92C1-4B02-9ABB-7BC1546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16个路由 × file/HTTP ×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352AD-B83B-4504-BECB-CBA4F89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1440/390px，检查布局、图片加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B7E5D-804F-4339-8C3A-793E23D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载与控制台异常。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FA3F7-650A-4F3F-BA13-B35B958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43125"/>
            <a:ext cx="323850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34项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11390-FF98-46BA-A540-6310BC2D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00350"/>
            <a:ext cx="3238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模拟AI测试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B1DA3-C9CB-4753-BAA8-F701FC0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19450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覆盖来源与日期校验、修复、取消、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B61EE-BC8B-4ED2-A1AA-74DA50D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33775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超时、失败不保存及存储边界。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B0CE1-3631-466B-848E-70C2AD1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43125"/>
            <a:ext cx="323850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B8731"/>
                </a:solidFill>
                <a:latin typeface="Microsoft YaHei"/>
                <a:ea typeface="Microsoft YaHei"/>
                <a:cs typeface="Microsoft YaHei"/>
              </a:rPr>
              <a:t>18项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59BFE-BD8A-4EED-BABD-6308762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00350"/>
            <a:ext cx="3238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41B28"/>
                </a:solidFill>
                <a:latin typeface="Microsoft YaHei"/>
                <a:ea typeface="Microsoft YaHei"/>
                <a:cs typeface="Microsoft YaHei"/>
              </a:rPr>
              <a:t>独立交付检查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03709-3580-4F22-83A2-433E245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19450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目录、脚本语法、本地资源和说明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91F4B-8CE1-440F-94F6-E2A6AA8A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33775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链接通过；0警告、0失败，退出码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04BFF-9FDA-4671-9EFF-42C3442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48100"/>
            <a:ext cx="34671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0。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BDB6E-238C-41C3-83BF-04E07BA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12014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交互验收覆盖搜索筛选、收藏、编辑、进度、刷新持久化、有效备份恢复、无效文件拒绝和取消导入。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94CB5-5F0A-4C28-A493-C36A4F13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详细输入、结果与验证范围见 readme/验收记录.md；数字仅代表已执行的检查范围。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E7B9C-A02C-447D-9064-1744AEF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57950"/>
            <a:ext cx="6858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5A60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1014307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2026-10-10T14:23:43.5740000Z</dcterms:created>
  <dcterms:modified xsi:type="dcterms:W3CDTF">2026-10-10T14:23:43.5740000Z</dcterms:modified>
</coreProperties>
</file>